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93463416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674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3207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192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3053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neerajkr101010@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5505388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l" rtl="0">
                        <a:spcBef>
                          <a:spcPts val="0"/>
                        </a:spcBef>
                        <a:spcAft>
                          <a:spcPts val="0"/>
                        </a:spcAft>
                        <a:buNone/>
                      </a:pPr>
                      <a:r>
                        <a:rPr lang="en-IN" dirty="0" smtClean="0"/>
                        <a:t>NEERAJ K</a:t>
                      </a:r>
                      <a:r>
                        <a:rPr lang="en-IN" baseline="0" dirty="0" smtClean="0"/>
                        <a:t> 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smtClean="0">
                          <a:hlinkClick r:id="rId3"/>
                        </a:rPr>
                        <a:t>neerajkr101010@gmail.com</a:t>
                      </a:r>
                      <a:r>
                        <a:rPr lang="en-IN" dirty="0" smtClean="0"/>
                        <a:t>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smtClean="0"/>
                        <a:t>9446962841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Education / </a:t>
            </a:r>
            <a:r>
              <a:rPr lang="en-IN" sz="2400" dirty="0" err="1"/>
              <a:t>EdTech</a:t>
            </a:r>
            <a:r>
              <a:rPr lang="en-IN" sz="2400" dirty="0"/>
              <a:t> / Career Preparation </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err="1"/>
              <a:t>Agentic</a:t>
            </a:r>
            <a:r>
              <a:rPr lang="en-IN" sz="2400" dirty="0"/>
              <a:t> AI Technical Interviewer </a:t>
            </a:r>
            <a:endParaRPr lang="en-IN" sz="2400" b="1" dirty="0">
              <a:highlight>
                <a:srgbClr val="FFFF00"/>
              </a:highlight>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48150" y="3638763"/>
            <a:ext cx="766762" cy="9858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3970318"/>
          </a:xfrm>
          <a:prstGeom prst="rect">
            <a:avLst/>
          </a:prstGeom>
          <a:noFill/>
        </p:spPr>
        <p:txBody>
          <a:bodyPr wrap="square" rtlCol="0">
            <a:spAutoFit/>
          </a:bodyPr>
          <a:lstStyle/>
          <a:p>
            <a:pPr fontAlgn="base"/>
            <a:r>
              <a:rPr lang="en-US" b="1" dirty="0"/>
              <a:t>Problem Statement : </a:t>
            </a:r>
            <a:r>
              <a:rPr lang="en-US" dirty="0"/>
              <a:t>Problem Statement No. 22 - Interview Trainer Agent </a:t>
            </a:r>
            <a:endParaRPr lang="en-US" dirty="0" smtClean="0"/>
          </a:p>
          <a:p>
            <a:pPr fontAlgn="base"/>
            <a:endParaRPr lang="en-US" b="1" dirty="0"/>
          </a:p>
          <a:p>
            <a:pPr fontAlgn="base"/>
            <a:r>
              <a:rPr lang="en-US" b="1" dirty="0"/>
              <a:t>The Challenge</a:t>
            </a:r>
            <a:r>
              <a:rPr lang="en-US" dirty="0"/>
              <a:t> </a:t>
            </a:r>
          </a:p>
          <a:p>
            <a:pPr fontAlgn="base"/>
            <a:r>
              <a:rPr lang="en-US" dirty="0"/>
              <a:t>Students and job seekers often struggle to prepare for technical interviews. Generic preparation tools lack context, and traditional platforms cannot dynamically adapt to a candidate's specific background, experience level, or real-time answers. </a:t>
            </a:r>
          </a:p>
          <a:p>
            <a:pPr fontAlgn="base"/>
            <a:endParaRPr lang="en-US" b="1" dirty="0" smtClean="0"/>
          </a:p>
          <a:p>
            <a:pPr fontAlgn="base"/>
            <a:r>
              <a:rPr lang="en-US" b="1" dirty="0" smtClean="0"/>
              <a:t>Industry </a:t>
            </a:r>
            <a:r>
              <a:rPr lang="en-US" b="1" dirty="0"/>
              <a:t>Problem:</a:t>
            </a:r>
            <a:r>
              <a:rPr lang="en-US" dirty="0"/>
              <a:t> Traditional technical interview preparation is static and disconnected from real-world, high-pressure interview environments. </a:t>
            </a:r>
            <a:endParaRPr lang="en-US" dirty="0" smtClean="0"/>
          </a:p>
          <a:p>
            <a:pPr fontAlgn="base"/>
            <a:r>
              <a:rPr lang="en-US" b="1" dirty="0"/>
              <a:t>Why Significant:</a:t>
            </a:r>
            <a:r>
              <a:rPr lang="en-US" dirty="0"/>
              <a:t> Candidates lack a feedback loop; they often do not know why they failed or how to improve their technical communication. </a:t>
            </a:r>
            <a:endParaRPr lang="en-US" dirty="0" smtClean="0"/>
          </a:p>
          <a:p>
            <a:pPr fontAlgn="base"/>
            <a:r>
              <a:rPr lang="en-US" b="1" dirty="0"/>
              <a:t>Target Users:</a:t>
            </a:r>
            <a:r>
              <a:rPr lang="en-US" dirty="0"/>
              <a:t> Computer Science students and entry-level job seekers</a:t>
            </a:r>
            <a:r>
              <a:rPr lang="en-US" dirty="0" smtClean="0"/>
              <a:t>.</a:t>
            </a:r>
          </a:p>
          <a:p>
            <a:pPr fontAlgn="base"/>
            <a:r>
              <a:rPr lang="en-US" b="1" dirty="0"/>
              <a:t>Pain Points:</a:t>
            </a:r>
            <a:r>
              <a:rPr lang="en-US" dirty="0"/>
              <a:t> Existing tools are generic, lack specific technical context, and cannot simulate the dynamic, back-and-forth nature of a real interview. </a:t>
            </a:r>
            <a:endParaRPr lang="en-US" b="1" dirty="0" smtClean="0"/>
          </a:p>
          <a:p>
            <a:pPr fontAlgn="base"/>
            <a:r>
              <a:rPr lang="en-US" b="1" dirty="0" smtClean="0"/>
              <a:t>The </a:t>
            </a:r>
            <a:r>
              <a:rPr lang="en-US" b="1" dirty="0"/>
              <a:t>Objective</a:t>
            </a:r>
            <a:r>
              <a:rPr lang="en-US" dirty="0"/>
              <a:t> </a:t>
            </a:r>
          </a:p>
          <a:p>
            <a:pPr fontAlgn="base"/>
            <a:r>
              <a:rPr lang="en-US" dirty="0"/>
              <a:t>Build an AI-powered Interview Trainer that conducts a realistic, back-and-forth technical mock interview. The solution should: </a:t>
            </a:r>
          </a:p>
          <a:p>
            <a:pPr marL="285750" indent="-285750" fontAlgn="base">
              <a:buFont typeface="Arial" panose="020B0604020202020204" pitchFamily="34" charset="0"/>
              <a:buChar char="•"/>
            </a:pPr>
            <a:r>
              <a:rPr lang="en-US" b="1" i="1" dirty="0"/>
              <a:t>Maintain Contextual Memory</a:t>
            </a:r>
            <a:r>
              <a:rPr lang="en-US" i="1" dirty="0"/>
              <a:t>:</a:t>
            </a:r>
            <a:r>
              <a:rPr lang="en-US" dirty="0"/>
              <a:t> Remember previous answers to ask intelligent follow-up questions. </a:t>
            </a:r>
          </a:p>
          <a:p>
            <a:pPr marL="285750" indent="-285750" fontAlgn="base">
              <a:buFont typeface="Arial" panose="020B0604020202020204" pitchFamily="34" charset="0"/>
              <a:buChar char="•"/>
            </a:pPr>
            <a:r>
              <a:rPr lang="en-US" b="1" i="1" dirty="0"/>
              <a:t>Enforce Persona</a:t>
            </a:r>
            <a:r>
              <a:rPr lang="en-US" i="1" dirty="0"/>
              <a:t>:</a:t>
            </a:r>
            <a:r>
              <a:rPr lang="en-US" dirty="0"/>
              <a:t> Act strictly as an evaluator, not a helpful coding assistant.  </a:t>
            </a:r>
          </a:p>
          <a:p>
            <a:pPr marL="285750" indent="-285750" fontAlgn="base">
              <a:buFont typeface="Arial" panose="020B0604020202020204" pitchFamily="34" charset="0"/>
              <a:buChar char="•"/>
            </a:pPr>
            <a:r>
              <a:rPr lang="en-US" b="1" i="1" dirty="0"/>
              <a:t>Decoupled Interface</a:t>
            </a:r>
            <a:r>
              <a:rPr lang="en-US" i="1" dirty="0"/>
              <a:t>:</a:t>
            </a:r>
            <a:r>
              <a:rPr lang="en-US" dirty="0"/>
              <a:t> Provide a distraction-free, professional chat interface built outside of the standard </a:t>
            </a:r>
            <a:r>
              <a:rPr lang="en-US" dirty="0" err="1"/>
              <a:t>Langflow</a:t>
            </a:r>
            <a:r>
              <a:rPr lang="en-US" dirty="0"/>
              <a:t> playground.</a:t>
            </a:r>
            <a:endParaRPr lang="en-IN"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07CFCB91-EF22-EB8C-5B0D-4D46021F0245}"/>
              </a:ext>
            </a:extLst>
          </p:cNvPr>
          <p:cNvSpPr txBox="1"/>
          <p:nvPr/>
        </p:nvSpPr>
        <p:spPr>
          <a:xfrm>
            <a:off x="667512" y="1165753"/>
            <a:ext cx="10607040" cy="2246769"/>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marL="285750" indent="-285750" fontAlgn="base">
              <a:buFont typeface="Arial" panose="020B0604020202020204" pitchFamily="34" charset="0"/>
              <a:buChar char="•"/>
            </a:pPr>
            <a:endParaRPr lang="en-IN" dirty="0"/>
          </a:p>
          <a:p>
            <a:pPr fontAlgn="base"/>
            <a:r>
              <a:rPr lang="en-IN" dirty="0"/>
              <a:t>I used </a:t>
            </a:r>
            <a:r>
              <a:rPr lang="en-IN" dirty="0" err="1"/>
              <a:t>LangFlow</a:t>
            </a:r>
            <a:r>
              <a:rPr lang="en-IN" dirty="0"/>
              <a:t> + IBM watsonx.ai + Granite </a:t>
            </a:r>
            <a:r>
              <a:rPr lang="en-IN" dirty="0" smtClean="0"/>
              <a:t>Models</a:t>
            </a:r>
          </a:p>
          <a:p>
            <a:pPr fontAlgn="base"/>
            <a:r>
              <a:rPr lang="en-US" b="1" dirty="0"/>
              <a:t>Custom Frontend/Backend:</a:t>
            </a:r>
            <a:r>
              <a:rPr lang="en-US" dirty="0"/>
              <a:t> MERN Stack (React.js, Node.js, Express)</a:t>
            </a:r>
            <a:endParaRPr lang="en-IN" dirty="0"/>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1234440"/>
            <a:ext cx="10607040" cy="3970318"/>
          </a:xfrm>
          <a:prstGeom prst="rect">
            <a:avLst/>
          </a:prstGeom>
          <a:noFill/>
        </p:spPr>
        <p:txBody>
          <a:bodyPr wrap="square" rtlCol="0">
            <a:spAutoFit/>
          </a:bodyPr>
          <a:lstStyle/>
          <a:p>
            <a:pPr fontAlgn="base"/>
            <a:endParaRPr lang="en-US" b="1" dirty="0"/>
          </a:p>
          <a:p>
            <a:r>
              <a:rPr lang="en-US" b="1" dirty="0"/>
              <a:t>Proposed Solution: </a:t>
            </a:r>
            <a:r>
              <a:rPr lang="en-IN" b="1" dirty="0"/>
              <a:t>AI-Powered Technical Interviewer</a:t>
            </a:r>
            <a:r>
              <a:rPr lang="en-IN" dirty="0"/>
              <a:t> </a:t>
            </a:r>
            <a:endParaRPr lang="en-US" b="1" dirty="0"/>
          </a:p>
          <a:p>
            <a:r>
              <a:rPr lang="en-US" dirty="0"/>
              <a:t>The proposed solution is a full-stack web application integrated with </a:t>
            </a:r>
            <a:r>
              <a:rPr lang="en-US" dirty="0" err="1"/>
              <a:t>Langflow</a:t>
            </a:r>
            <a:r>
              <a:rPr lang="en-US" dirty="0"/>
              <a:t> and IBM watsonx.ai to provide realistic, dynamic technical mock interviews.</a:t>
            </a:r>
          </a:p>
          <a:p>
            <a:r>
              <a:rPr lang="en-US" dirty="0"/>
              <a:t>The system addresses the lack of personalized interview prep through a decoupled, memory-enabled architecture.</a:t>
            </a:r>
          </a:p>
          <a:p>
            <a:r>
              <a:rPr lang="en-US" dirty="0"/>
              <a:t>At its core, the solution utilizes a customized </a:t>
            </a:r>
            <a:r>
              <a:rPr lang="en-US" dirty="0" err="1"/>
              <a:t>Langflow</a:t>
            </a:r>
            <a:r>
              <a:rPr lang="en-US" dirty="0"/>
              <a:t> pipeline to orchestrate the AI logic. Instead of answering user questions, the agent is engineered to drive the conversation, evaluate technical responses, and generate targeted follow-up questions.</a:t>
            </a:r>
          </a:p>
          <a:p>
            <a:r>
              <a:rPr lang="en-IN" dirty="0"/>
              <a:t>The Architecture consists of:</a:t>
            </a:r>
          </a:p>
          <a:p>
            <a:r>
              <a:rPr lang="en-US" b="1" dirty="0"/>
              <a:t>React Frontend:</a:t>
            </a:r>
            <a:r>
              <a:rPr lang="en-US" dirty="0"/>
              <a:t> A custom, professional chat UI that captures candidate responses. </a:t>
            </a:r>
          </a:p>
          <a:p>
            <a:r>
              <a:rPr lang="en-US" b="1" dirty="0"/>
              <a:t>Express Backend:</a:t>
            </a:r>
            <a:r>
              <a:rPr lang="en-US" dirty="0"/>
              <a:t> A Node.js server that securely routes API calls to </a:t>
            </a:r>
            <a:r>
              <a:rPr lang="en-US" dirty="0" err="1"/>
              <a:t>Langflow</a:t>
            </a:r>
            <a:r>
              <a:rPr lang="en-US" dirty="0"/>
              <a:t>, keeping API keys hidden from the client. </a:t>
            </a:r>
          </a:p>
          <a:p>
            <a:r>
              <a:rPr lang="en-US" b="1" dirty="0" err="1"/>
              <a:t>Langflow</a:t>
            </a:r>
            <a:r>
              <a:rPr lang="en-US" b="1" dirty="0"/>
              <a:t> Engine:</a:t>
            </a:r>
            <a:r>
              <a:rPr lang="en-US" dirty="0"/>
              <a:t> Manages the conversational memory and prompt templates. </a:t>
            </a:r>
          </a:p>
          <a:p>
            <a:r>
              <a:rPr lang="en-US" b="1" dirty="0"/>
              <a:t>IBM watsonx.ai:</a:t>
            </a:r>
            <a:r>
              <a:rPr lang="en-US" dirty="0"/>
              <a:t> Powers the reasoning using the </a:t>
            </a:r>
            <a:r>
              <a:rPr lang="en-US" dirty="0" err="1"/>
              <a:t>ibm</a:t>
            </a:r>
            <a:r>
              <a:rPr lang="en-US" dirty="0"/>
              <a:t>/granite-8b-code-instruct model, specifically chosen for its deep understanding of programming and system design concepts. </a:t>
            </a:r>
          </a:p>
          <a:p>
            <a:r>
              <a:rPr lang="en-US" b="1" dirty="0"/>
              <a:t>Key Capabilities:</a:t>
            </a:r>
            <a:endParaRPr lang="en-US" dirty="0"/>
          </a:p>
          <a:p>
            <a:r>
              <a:rPr lang="en-US" b="1" dirty="0"/>
              <a:t>Contextual Memory:</a:t>
            </a:r>
            <a:r>
              <a:rPr lang="en-US" dirty="0"/>
              <a:t> Tracks conversation history for intelligent, evolving follow-up questions.</a:t>
            </a:r>
          </a:p>
          <a:p>
            <a:pPr fontAlgn="base"/>
            <a:r>
              <a:rPr lang="en-US" b="1" dirty="0"/>
              <a:t>Strict Evaluator Persona:</a:t>
            </a:r>
            <a:r>
              <a:rPr lang="en-US" dirty="0"/>
              <a:t> Operates as a formal interviewer, not a tutor, to simulate real-world pressure</a:t>
            </a:r>
            <a:r>
              <a:rPr lang="en-US" dirty="0" smtClean="0"/>
              <a:t>.</a:t>
            </a:r>
          </a:p>
          <a:p>
            <a:pPr fontAlgn="base"/>
            <a:r>
              <a:rPr lang="en-US" b="1" dirty="0"/>
              <a:t>Decoupled Interface:</a:t>
            </a:r>
            <a:r>
              <a:rPr lang="en-US" dirty="0"/>
              <a:t> Professional, minimalistic chat UI built to isolate the user from the backend logic. </a:t>
            </a:r>
          </a:p>
          <a:p>
            <a:endParaRPr lang="en-IN"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474822" y="863187"/>
            <a:ext cx="8823960" cy="5478423"/>
          </a:xfrm>
          <a:prstGeom prst="rect">
            <a:avLst/>
          </a:prstGeom>
          <a:noFill/>
        </p:spPr>
        <p:txBody>
          <a:bodyPr wrap="square" rtlCol="0">
            <a:spAutoFit/>
          </a:bodyPr>
          <a:lstStyle/>
          <a:p>
            <a:endParaRPr lang="en-US" dirty="0"/>
          </a:p>
          <a:p>
            <a:r>
              <a:rPr lang="en-US" b="1" dirty="0"/>
              <a:t>1)Chat Input </a:t>
            </a:r>
            <a:r>
              <a:rPr lang="en-US" dirty="0"/>
              <a:t>– Receives the candidate's answers from the Express backend via API. </a:t>
            </a:r>
          </a:p>
          <a:p>
            <a:endParaRPr lang="en-US" dirty="0"/>
          </a:p>
          <a:p>
            <a:r>
              <a:rPr lang="en-US" dirty="0" smtClean="0"/>
              <a:t>2) </a:t>
            </a:r>
            <a:r>
              <a:rPr lang="en-US" b="1" dirty="0"/>
              <a:t>Chat Output:</a:t>
            </a:r>
            <a:r>
              <a:rPr lang="en-US" dirty="0"/>
              <a:t> Formats the AI's next interview question and returns it to the Node.js backend.</a:t>
            </a:r>
          </a:p>
          <a:p>
            <a:endParaRPr lang="en-US" dirty="0"/>
          </a:p>
          <a:p>
            <a:r>
              <a:rPr lang="en-US" b="1" dirty="0" smtClean="0"/>
              <a:t>3)Message </a:t>
            </a:r>
            <a:r>
              <a:rPr lang="en-US" b="1" dirty="0"/>
              <a:t>History (Memory Node):</a:t>
            </a:r>
            <a:r>
              <a:rPr lang="en-US" dirty="0"/>
              <a:t> Stores the ongoing interview conversation, allowing the AI to remember past questions and candidate responses to maintain context. </a:t>
            </a:r>
          </a:p>
          <a:p>
            <a:endParaRPr lang="en-US" dirty="0"/>
          </a:p>
          <a:p>
            <a:r>
              <a:rPr lang="en-US" b="1" dirty="0"/>
              <a:t>4</a:t>
            </a:r>
            <a:r>
              <a:rPr lang="en-US" b="1" dirty="0" smtClean="0"/>
              <a:t>) </a:t>
            </a:r>
            <a:r>
              <a:rPr lang="en-US" b="1" dirty="0"/>
              <a:t>Prompt Template:</a:t>
            </a:r>
            <a:r>
              <a:rPr lang="en-US" dirty="0"/>
              <a:t> Contains the strict system instructions (Prompt Engineering) and variables  that force the AI to act as an interviewer rather than a standard </a:t>
            </a:r>
            <a:r>
              <a:rPr lang="en-US" dirty="0" err="1"/>
              <a:t>chatbot</a:t>
            </a:r>
            <a:r>
              <a:rPr lang="en-US" dirty="0"/>
              <a:t>. </a:t>
            </a:r>
          </a:p>
          <a:p>
            <a:endParaRPr lang="en-US" dirty="0"/>
          </a:p>
          <a:p>
            <a:r>
              <a:rPr lang="en-US" b="1" dirty="0" smtClean="0"/>
              <a:t>5) </a:t>
            </a:r>
            <a:r>
              <a:rPr lang="en-US" b="1" dirty="0"/>
              <a:t>IBM watsonx.ai Agent:</a:t>
            </a:r>
            <a:r>
              <a:rPr lang="en-US" dirty="0"/>
              <a:t> Processes the prompt and memory payload.</a:t>
            </a:r>
          </a:p>
          <a:p>
            <a:endParaRPr lang="en-US" dirty="0"/>
          </a:p>
          <a:p>
            <a:r>
              <a:rPr lang="en-US" b="1" dirty="0" smtClean="0"/>
              <a:t>6) </a:t>
            </a:r>
            <a:r>
              <a:rPr lang="en-US" b="1" dirty="0"/>
              <a:t>Name of IBM Granite </a:t>
            </a:r>
            <a:r>
              <a:rPr lang="en-US" b="1" dirty="0" err="1"/>
              <a:t>model:</a:t>
            </a:r>
            <a:r>
              <a:rPr lang="en-US" dirty="0" err="1"/>
              <a:t>ibm</a:t>
            </a:r>
            <a:r>
              <a:rPr lang="en-US" dirty="0"/>
              <a:t>/granite-8b-code-instruct → Highly efficient for evaluating technical, architectural, and coding-related interview answers.</a:t>
            </a:r>
          </a:p>
          <a:p>
            <a:endParaRPr lang="en-US" dirty="0"/>
          </a:p>
          <a:p>
            <a:r>
              <a:rPr lang="en-US" b="1" dirty="0" smtClean="0"/>
              <a:t>7) FAISS </a:t>
            </a:r>
            <a:r>
              <a:rPr lang="en-US" b="1" dirty="0"/>
              <a:t>Vector Store:</a:t>
            </a:r>
            <a:r>
              <a:rPr lang="en-US" dirty="0"/>
              <a:t> Used for retrieving domain-specific interview questions from college datasets.</a:t>
            </a:r>
          </a:p>
          <a:p>
            <a:endParaRPr lang="en-US" dirty="0" smtClean="0"/>
          </a:p>
          <a:p>
            <a:r>
              <a:rPr lang="en-US" dirty="0" smtClean="0"/>
              <a:t>8) </a:t>
            </a:r>
            <a:r>
              <a:rPr lang="en-IN" dirty="0"/>
              <a:t>IBM watsonx.ai </a:t>
            </a:r>
            <a:r>
              <a:rPr lang="en-IN" dirty="0" err="1" smtClean="0"/>
              <a:t>Embeddings</a:t>
            </a:r>
            <a:r>
              <a:rPr lang="en-IN" dirty="0" smtClean="0"/>
              <a:t>: </a:t>
            </a:r>
            <a:r>
              <a:rPr lang="en-US" dirty="0" smtClean="0"/>
              <a:t>This </a:t>
            </a:r>
            <a:r>
              <a:rPr lang="en-US" dirty="0"/>
              <a:t>allows the FAISS vector store to understand the </a:t>
            </a:r>
            <a:r>
              <a:rPr lang="en-US" i="1" dirty="0"/>
              <a:t>meaning</a:t>
            </a:r>
            <a:r>
              <a:rPr lang="en-US" dirty="0"/>
              <a:t> and </a:t>
            </a:r>
            <a:r>
              <a:rPr lang="en-US" i="1" dirty="0"/>
              <a:t>context</a:t>
            </a:r>
            <a:r>
              <a:rPr lang="en-US" dirty="0"/>
              <a:t> of interview questions, enabling semantic search rather than simple keyword matching.</a:t>
            </a:r>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4" name="Picture 3"/>
          <p:cNvPicPr>
            <a:picLocks noChangeAspect="1"/>
          </p:cNvPicPr>
          <p:nvPr/>
        </p:nvPicPr>
        <p:blipFill>
          <a:blip r:embed="rId3"/>
          <a:stretch>
            <a:fillRect/>
          </a:stretch>
        </p:blipFill>
        <p:spPr>
          <a:xfrm>
            <a:off x="304298" y="1001819"/>
            <a:ext cx="11583404" cy="4854361"/>
          </a:xfrm>
          <a:prstGeom prst="rect">
            <a:avLst/>
          </a:prstGeom>
        </p:spPr>
      </p:pic>
    </p:spTree>
    <p:extLst>
      <p:ext uri="{BB962C8B-B14F-4D97-AF65-F5344CB8AC3E}">
        <p14:creationId xmlns:p14="http://schemas.microsoft.com/office/powerpoint/2010/main" val="27725019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 xmlns:a16="http://schemas.microsoft.com/office/drawing/2014/main" id="{322462E8-EB3A-DA7D-44CB-4E757803A755}"/>
              </a:ext>
            </a:extLst>
          </p:cNvPr>
          <p:cNvSpPr txBox="1"/>
          <p:nvPr/>
        </p:nvSpPr>
        <p:spPr>
          <a:xfrm>
            <a:off x="621792" y="1167493"/>
            <a:ext cx="7406640" cy="2462213"/>
          </a:xfrm>
          <a:prstGeom prst="rect">
            <a:avLst/>
          </a:prstGeom>
          <a:noFill/>
        </p:spPr>
        <p:txBody>
          <a:bodyPr wrap="square" rtlCol="0">
            <a:spAutoFit/>
          </a:bodyPr>
          <a:lstStyle/>
          <a:p>
            <a:r>
              <a:rPr lang="en-US" b="1" dirty="0"/>
              <a:t>Role of </a:t>
            </a:r>
            <a:r>
              <a:rPr lang="en-US" b="1" dirty="0" err="1"/>
              <a:t>Agentic</a:t>
            </a:r>
            <a:r>
              <a:rPr lang="en-US" b="1" dirty="0"/>
              <a:t> AI </a:t>
            </a:r>
            <a:r>
              <a:rPr lang="en-US" dirty="0"/>
              <a:t>in the Interview Trainer</a:t>
            </a:r>
          </a:p>
          <a:p>
            <a:r>
              <a:rPr lang="en-US" dirty="0" err="1"/>
              <a:t>Agentic</a:t>
            </a:r>
            <a:r>
              <a:rPr lang="en-US" dirty="0"/>
              <a:t> AI enables the Interviewer to function as a dynamic evaluator rather than a simple call-and-response bot. </a:t>
            </a:r>
          </a:p>
          <a:p>
            <a:r>
              <a:rPr lang="en-US" b="1" dirty="0"/>
              <a:t>Autonomous Conversation Driver:</a:t>
            </a:r>
            <a:r>
              <a:rPr lang="en-US" dirty="0"/>
              <a:t> The agent takes control of the flow. Instead of waiting for the user to ask a question, the agent formulates the next logical technical question based on the user's previous answer. </a:t>
            </a:r>
          </a:p>
          <a:p>
            <a:r>
              <a:rPr lang="en-US" b="1" dirty="0"/>
              <a:t>Contextual Reasoning:</a:t>
            </a:r>
            <a:r>
              <a:rPr lang="en-US" dirty="0"/>
              <a:t> By utilizing the Message History component, the AI analyzes the candidate's historical answers (e.g., if they mention using </a:t>
            </a:r>
            <a:r>
              <a:rPr lang="en-US" dirty="0" err="1"/>
              <a:t>MongoDB</a:t>
            </a:r>
            <a:r>
              <a:rPr lang="en-US" dirty="0"/>
              <a:t>, the agent will dynamically pivot to ask about </a:t>
            </a:r>
            <a:r>
              <a:rPr lang="en-US" dirty="0" err="1"/>
              <a:t>NoSQL</a:t>
            </a:r>
            <a:r>
              <a:rPr lang="en-US" dirty="0"/>
              <a:t> schema design)</a:t>
            </a:r>
          </a:p>
          <a:p>
            <a:r>
              <a:rPr lang="en-US" dirty="0"/>
              <a:t>Overall, </a:t>
            </a:r>
            <a:r>
              <a:rPr lang="en-US" dirty="0" err="1"/>
              <a:t>Agentic</a:t>
            </a:r>
            <a:r>
              <a:rPr lang="en-US" dirty="0"/>
              <a:t> AI makes the system proactive and goal-driven, acting exactly like a strict Senior Developer evaluating a candidate.</a:t>
            </a:r>
          </a:p>
        </p:txBody>
      </p:sp>
      <p:pic>
        <p:nvPicPr>
          <p:cNvPr id="5" name="Picture 4"/>
          <p:cNvPicPr>
            <a:picLocks noChangeAspect="1"/>
          </p:cNvPicPr>
          <p:nvPr/>
        </p:nvPicPr>
        <p:blipFill>
          <a:blip r:embed="rId3"/>
          <a:stretch>
            <a:fillRect/>
          </a:stretch>
        </p:blipFill>
        <p:spPr>
          <a:xfrm>
            <a:off x="8028432" y="443610"/>
            <a:ext cx="3749365" cy="5875529"/>
          </a:xfrm>
          <a:prstGeom prst="rect">
            <a:avLst/>
          </a:prstGeom>
        </p:spPr>
      </p:pic>
      <p:pic>
        <p:nvPicPr>
          <p:cNvPr id="4" name="Picture 3"/>
          <p:cNvPicPr>
            <a:picLocks noChangeAspect="1"/>
          </p:cNvPicPr>
          <p:nvPr/>
        </p:nvPicPr>
        <p:blipFill>
          <a:blip r:embed="rId4"/>
          <a:stretch>
            <a:fillRect/>
          </a:stretch>
        </p:blipFill>
        <p:spPr>
          <a:xfrm>
            <a:off x="7915275" y="382644"/>
            <a:ext cx="4094078" cy="59974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6340197"/>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-Used to visually design the AI pipeline, manage Prompt Engineering, and wire the Message History memory nodes. </a:t>
            </a:r>
          </a:p>
          <a:p>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a:t>
            </a:r>
            <a:r>
              <a:rPr lang="en-IN" sz="1800" dirty="0" err="1"/>
              <a:t>ibm</a:t>
            </a:r>
            <a:r>
              <a:rPr lang="en-IN" sz="1800" dirty="0"/>
              <a:t>/granite-8b-code-instruct</a:t>
            </a:r>
            <a:r>
              <a:rPr lang="en-US" sz="1800" dirty="0"/>
              <a:t> – Chosen for its deep technical training, allowing it to evaluate complex software architecture and programming concepts </a:t>
            </a:r>
            <a:r>
              <a:rPr lang="en-US" sz="1800" dirty="0" smtClean="0"/>
              <a:t>accurately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a:t>
            </a:r>
            <a:r>
              <a:rPr lang="en-US" sz="1800" dirty="0" smtClean="0"/>
              <a:t>Interview </a:t>
            </a:r>
            <a:r>
              <a:rPr lang="en-US" sz="1800" dirty="0"/>
              <a:t>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a:t>
            </a:r>
            <a:r>
              <a:rPr lang="en-IN" sz="1800" dirty="0" smtClean="0"/>
              <a:t>FAISS) </a:t>
            </a:r>
            <a:r>
              <a:rPr lang="en-IN" sz="1800" dirty="0"/>
              <a:t>– For RAG-based </a:t>
            </a:r>
            <a:r>
              <a:rPr lang="en-IN" sz="1800" dirty="0" smtClean="0"/>
              <a:t>interview </a:t>
            </a:r>
            <a:r>
              <a:rPr lang="en-IN" sz="1800" dirty="0"/>
              <a:t>data </a:t>
            </a:r>
            <a:r>
              <a:rPr lang="en-IN" sz="1800" dirty="0" smtClean="0"/>
              <a:t>retrieval</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US" sz="1800" b="1" dirty="0"/>
              <a:t>MERN Stack (React &amp; Node/Express):</a:t>
            </a:r>
            <a:r>
              <a:rPr lang="en-US" sz="1800" dirty="0"/>
              <a:t> Used to build a completely decoupled, professional user interface, bypassing the standard </a:t>
            </a:r>
            <a:r>
              <a:rPr lang="en-US" sz="1800" dirty="0" err="1"/>
              <a:t>Langflow</a:t>
            </a:r>
            <a:r>
              <a:rPr lang="en-US" sz="1800" dirty="0"/>
              <a:t> playground for a production-ready application feel</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1207008"/>
            <a:ext cx="11301984" cy="4739759"/>
          </a:xfrm>
          <a:prstGeom prst="rect">
            <a:avLst/>
          </a:prstGeom>
          <a:noFill/>
        </p:spPr>
        <p:txBody>
          <a:bodyPr wrap="square" rtlCol="0">
            <a:spAutoFit/>
          </a:bodyPr>
          <a:lstStyle/>
          <a:p>
            <a:r>
              <a:rPr lang="en-IN" sz="1800" dirty="0" smtClean="0"/>
              <a:t>The proposed Nutrition Agent stands out by combining </a:t>
            </a:r>
            <a:r>
              <a:rPr lang="en-IN" sz="1800" b="1" dirty="0" err="1" smtClean="0"/>
              <a:t>Agentic</a:t>
            </a:r>
            <a:r>
              <a:rPr lang="en-IN" sz="1800" b="1" dirty="0" smtClean="0"/>
              <a:t> AI, RAG, and personalization</a:t>
            </a:r>
            <a:r>
              <a:rPr lang="en-IN" sz="1800" dirty="0" smtClean="0"/>
              <a:t> into a single intelligent system.</a:t>
            </a:r>
          </a:p>
          <a:p>
            <a:endParaRPr lang="en-IN" sz="1800" dirty="0" smtClean="0"/>
          </a:p>
          <a:p>
            <a:r>
              <a:rPr lang="en-IN" sz="1800" b="1" dirty="0" smtClean="0"/>
              <a:t>RAG-Based Accuracy</a:t>
            </a:r>
            <a:r>
              <a:rPr lang="en-IN" sz="1800" dirty="0" smtClean="0"/>
              <a:t> – Integrates real-time data retrieval with AI generation, reducing misinformation and ensuring trustworthy recommendations. </a:t>
            </a:r>
          </a:p>
          <a:p>
            <a:r>
              <a:rPr lang="en-US" sz="1800" b="1" dirty="0"/>
              <a:t>Dynamic Short-Term Memory:</a:t>
            </a:r>
            <a:r>
              <a:rPr lang="en-US" sz="1800" dirty="0"/>
              <a:t> Utilizes Message History nodes to remember past candidate answers, allowing for deep-dive, multi-turn technical follow-up questions rather than surface-level trivia. </a:t>
            </a:r>
            <a:endParaRPr lang="en-IN" sz="1800" dirty="0"/>
          </a:p>
          <a:p>
            <a:r>
              <a:rPr lang="en-US" sz="1800" b="1" dirty="0" smtClean="0"/>
              <a:t>Decoupled </a:t>
            </a:r>
            <a:r>
              <a:rPr lang="en-US" sz="1800" b="1" dirty="0"/>
              <a:t>Custom Architecture:</a:t>
            </a:r>
            <a:r>
              <a:rPr lang="en-US" sz="1800" dirty="0"/>
              <a:t> Unlike standard </a:t>
            </a:r>
            <a:r>
              <a:rPr lang="en-US" sz="1800" dirty="0" err="1"/>
              <a:t>Langflow</a:t>
            </a:r>
            <a:r>
              <a:rPr lang="en-US" sz="1800" dirty="0"/>
              <a:t> projects, the AI reasoning is entirely isolated from the presentation layer. The MERN stack handles the UI/UX, while </a:t>
            </a:r>
            <a:r>
              <a:rPr lang="en-US" sz="1800" dirty="0" err="1"/>
              <a:t>Langflow</a:t>
            </a:r>
            <a:r>
              <a:rPr lang="en-US" sz="1800" dirty="0"/>
              <a:t> acts purely as the brain via API. </a:t>
            </a:r>
          </a:p>
          <a:p>
            <a:r>
              <a:rPr lang="en-IN" sz="1800" b="1" dirty="0" smtClean="0"/>
              <a:t>Multi-Modal Input</a:t>
            </a:r>
            <a:r>
              <a:rPr lang="en-IN" sz="1800" dirty="0" smtClean="0"/>
              <a:t> – Supports text, voice, and image-based meal tracking for better usability. </a:t>
            </a:r>
          </a:p>
          <a:p>
            <a:r>
              <a:rPr lang="en-US" sz="1800" b="1" dirty="0"/>
              <a:t>Strict Persona Enforcement:</a:t>
            </a:r>
            <a:r>
              <a:rPr lang="en-US" sz="1800" dirty="0"/>
              <a:t> Overcomes standard LLM safety guardrails (which normally refuse one-word prompts like "start") through advanced Prompt Engineering, forcing the model to stay in character. </a:t>
            </a:r>
          </a:p>
          <a:p>
            <a:r>
              <a:rPr lang="en-IN" sz="1800" b="1" dirty="0" smtClean="0"/>
              <a:t>Scalable &amp; Enterprise-Ready</a:t>
            </a:r>
            <a:r>
              <a:rPr lang="en-IN" sz="1800" dirty="0" smtClean="0"/>
              <a:t> – Built on </a:t>
            </a:r>
            <a:r>
              <a:rPr lang="en-IN" sz="1800" b="1" dirty="0" smtClean="0"/>
              <a:t>IBM watsonx.ai</a:t>
            </a:r>
            <a:r>
              <a:rPr lang="en-IN" sz="1800" dirty="0" smtClean="0"/>
              <a:t> with </a:t>
            </a:r>
            <a:r>
              <a:rPr lang="en-IN" sz="1800" b="1" dirty="0" smtClean="0"/>
              <a:t>IBM Granite models</a:t>
            </a:r>
            <a:r>
              <a:rPr lang="en-IN" sz="1800" dirty="0" smtClean="0"/>
              <a:t>, ensuring reliability and governance. </a:t>
            </a:r>
          </a:p>
          <a:p>
            <a:endParaRPr lang="en-IN" sz="1800" dirty="0" smtClean="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https://github.com/neeraj-k-r/Agentic-AI-Interview-Trainer</a:t>
            </a:r>
            <a:endParaRPr lang="en-US" sz="1850" dirty="0">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00" b="1" dirty="0"/>
              <a:t>1.Resume Parsing via RAG:</a:t>
            </a:r>
            <a:r>
              <a:rPr lang="en-US" sz="1800" dirty="0"/>
              <a:t> Integrating a Retrieval-Augmented Generation (RAG) vector database to allow users to upload their PDF resumes. The AI could then extract past projects and ask highly specific, personalized questions based on the candidate's actual work history.</a:t>
            </a:r>
          </a:p>
          <a:p>
            <a:pPr lvl="0">
              <a:lnSpc>
                <a:spcPct val="162162"/>
              </a:lnSpc>
              <a:buClr>
                <a:srgbClr val="2B3541"/>
              </a:buClr>
              <a:buSzPts val="1850"/>
            </a:pPr>
            <a:r>
              <a:rPr lang="en-US" sz="1800" dirty="0"/>
              <a:t>2.</a:t>
            </a:r>
            <a:r>
              <a:rPr lang="en-US" sz="1800" b="1" dirty="0"/>
              <a:t>Voice-to-Text </a:t>
            </a:r>
            <a:r>
              <a:rPr lang="en-US" sz="1800" b="1" dirty="0" err="1"/>
              <a:t>Integration:</a:t>
            </a:r>
            <a:r>
              <a:rPr lang="en-US" sz="1800" dirty="0" err="1"/>
              <a:t>Implementing</a:t>
            </a:r>
            <a:r>
              <a:rPr lang="en-US" sz="1800" dirty="0"/>
              <a:t> the Web Speech API in the React frontend to allow candidates to speak their answers out loud, simulating the pressure and reality of a verbal technical interview.</a:t>
            </a:r>
          </a:p>
          <a:p>
            <a:pPr lvl="0">
              <a:lnSpc>
                <a:spcPct val="162162"/>
              </a:lnSpc>
              <a:buClr>
                <a:srgbClr val="2B3541"/>
              </a:buClr>
              <a:buSzPts val="1850"/>
            </a:pPr>
            <a:r>
              <a:rPr lang="en-US" sz="1800" dirty="0"/>
              <a:t>3. </a:t>
            </a:r>
            <a:r>
              <a:rPr lang="en-US" sz="1800" b="1" dirty="0"/>
              <a:t>Post-Interview Evaluation </a:t>
            </a:r>
            <a:r>
              <a:rPr lang="en-US" sz="1800" b="1" dirty="0" err="1"/>
              <a:t>Report:</a:t>
            </a:r>
            <a:r>
              <a:rPr lang="en-US" sz="1800" dirty="0" err="1"/>
              <a:t>Adding</a:t>
            </a:r>
            <a:r>
              <a:rPr lang="en-US" sz="1800" dirty="0"/>
              <a:t> a secondary AI agent that reviews the entire Message History transcript once the interview concludes, generating a comprehensive scorecard highlighting strengths and areas for improvement.</a:t>
            </a:r>
          </a:p>
          <a:p>
            <a:pPr lvl="0">
              <a:lnSpc>
                <a:spcPct val="162162"/>
              </a:lnSpc>
              <a:buClr>
                <a:srgbClr val="2B3541"/>
              </a:buClr>
              <a:buSzPts val="1850"/>
            </a:pPr>
            <a:endParaRPr lang="en-US" sz="1800" dirty="0">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1200</TotalTime>
  <Words>1060</Words>
  <Application>Microsoft Office PowerPoint</Application>
  <PresentationFormat>Widescreen</PresentationFormat>
  <Paragraphs>118</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user</cp:lastModifiedBy>
  <cp:revision>25</cp:revision>
  <dcterms:created xsi:type="dcterms:W3CDTF">2025-07-08T05:06:56Z</dcterms:created>
  <dcterms:modified xsi:type="dcterms:W3CDTF">2026-06-06T20:05:26Z</dcterms:modified>
</cp:coreProperties>
</file>