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5"/>
  </p:notesMasterIdLst>
  <p:sldIdLst>
    <p:sldId id="283" r:id="rId2"/>
    <p:sldId id="257" r:id="rId3"/>
    <p:sldId id="282" r:id="rId4"/>
    <p:sldId id="284" r:id="rId5"/>
    <p:sldId id="285" r:id="rId6"/>
    <p:sldId id="281" r:id="rId7"/>
    <p:sldId id="279" r:id="rId8"/>
    <p:sldId id="264" r:id="rId9"/>
    <p:sldId id="278" r:id="rId10"/>
    <p:sldId id="286" r:id="rId11"/>
    <p:sldId id="277" r:id="rId12"/>
    <p:sldId id="280" r:id="rId13"/>
    <p:sldId id="276" r:id="rId14"/>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86"/>
  </p:normalViewPr>
  <p:slideViewPr>
    <p:cSldViewPr snapToGrid="0">
      <p:cViewPr varScale="1">
        <p:scale>
          <a:sx n="80" d="100"/>
          <a:sy n="80" d="100"/>
        </p:scale>
        <p:origin x="754"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28"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52162738"/>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817240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 xmlns:a16="http://schemas.microsoft.com/office/drawing/2014/main" id="{20A8E369-C804-D8D2-383B-03E8A5478F53}"/>
            </a:ext>
          </a:extLst>
        </p:cNvPr>
        <p:cNvGrpSpPr/>
        <p:nvPr/>
      </p:nvGrpSpPr>
      <p:grpSpPr>
        <a:xfrm>
          <a:off x="0" y="0"/>
          <a:ext cx="0" cy="0"/>
          <a:chOff x="0" y="0"/>
          <a:chExt cx="0" cy="0"/>
        </a:xfrm>
      </p:grpSpPr>
      <p:sp>
        <p:nvSpPr>
          <p:cNvPr id="101" name="Google Shape;101;p3:notes">
            <a:extLst>
              <a:ext uri="{FF2B5EF4-FFF2-40B4-BE49-F238E27FC236}">
                <a16:creationId xmlns="" xmlns:a16="http://schemas.microsoft.com/office/drawing/2014/main" id="{168FC73D-F867-8E13-0025-1B40818921D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 xmlns:a16="http://schemas.microsoft.com/office/drawing/2014/main" id="{449581B4-9B47-7782-B749-078618A6E57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051513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a:extLst>
            <a:ext uri="{FF2B5EF4-FFF2-40B4-BE49-F238E27FC236}">
              <a16:creationId xmlns="" xmlns:a16="http://schemas.microsoft.com/office/drawing/2014/main" id="{59B870D7-ED5B-C7CD-FB99-2991954CAA65}"/>
            </a:ext>
          </a:extLst>
        </p:cNvPr>
        <p:cNvGrpSpPr/>
        <p:nvPr/>
      </p:nvGrpSpPr>
      <p:grpSpPr>
        <a:xfrm>
          <a:off x="0" y="0"/>
          <a:ext cx="0" cy="0"/>
          <a:chOff x="0" y="0"/>
          <a:chExt cx="0" cy="0"/>
        </a:xfrm>
      </p:grpSpPr>
      <p:sp>
        <p:nvSpPr>
          <p:cNvPr id="129" name="Google Shape;129;p5:notes">
            <a:extLst>
              <a:ext uri="{FF2B5EF4-FFF2-40B4-BE49-F238E27FC236}">
                <a16:creationId xmlns="" xmlns:a16="http://schemas.microsoft.com/office/drawing/2014/main" id="{C8B270BB-F67C-52E3-249C-6FE0C237CA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0" name="Google Shape;130;p5:notes">
            <a:extLst>
              <a:ext uri="{FF2B5EF4-FFF2-40B4-BE49-F238E27FC236}">
                <a16:creationId xmlns="" xmlns:a16="http://schemas.microsoft.com/office/drawing/2014/main" id="{151B863E-6240-36E9-EB23-2DAA667D251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798578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a:extLst>
            <a:ext uri="{FF2B5EF4-FFF2-40B4-BE49-F238E27FC236}">
              <a16:creationId xmlns="" xmlns:a16="http://schemas.microsoft.com/office/drawing/2014/main" id="{279463AA-D7FA-5F7E-C4D0-06BDEDCBB932}"/>
            </a:ext>
          </a:extLst>
        </p:cNvPr>
        <p:cNvGrpSpPr/>
        <p:nvPr/>
      </p:nvGrpSpPr>
      <p:grpSpPr>
        <a:xfrm>
          <a:off x="0" y="0"/>
          <a:ext cx="0" cy="0"/>
          <a:chOff x="0" y="0"/>
          <a:chExt cx="0" cy="0"/>
        </a:xfrm>
      </p:grpSpPr>
      <p:sp>
        <p:nvSpPr>
          <p:cNvPr id="171" name="Google Shape;171;p7:notes">
            <a:extLst>
              <a:ext uri="{FF2B5EF4-FFF2-40B4-BE49-F238E27FC236}">
                <a16:creationId xmlns="" xmlns:a16="http://schemas.microsoft.com/office/drawing/2014/main" id="{A84E3171-2C5C-8738-5718-5608CE1B13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2" name="Google Shape;172;p7:notes">
            <a:extLst>
              <a:ext uri="{FF2B5EF4-FFF2-40B4-BE49-F238E27FC236}">
                <a16:creationId xmlns="" xmlns:a16="http://schemas.microsoft.com/office/drawing/2014/main" id="{E16E406D-2512-5EF2-0167-6C895346954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349666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8377757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 xmlns:a16="http://schemas.microsoft.com/office/drawing/2014/main" id="{11626E4B-E119-2382-6F8F-518641144E90}"/>
            </a:ext>
          </a:extLst>
        </p:cNvPr>
        <p:cNvGrpSpPr/>
        <p:nvPr/>
      </p:nvGrpSpPr>
      <p:grpSpPr>
        <a:xfrm>
          <a:off x="0" y="0"/>
          <a:ext cx="0" cy="0"/>
          <a:chOff x="0" y="0"/>
          <a:chExt cx="0" cy="0"/>
        </a:xfrm>
      </p:grpSpPr>
      <p:sp>
        <p:nvSpPr>
          <p:cNvPr id="198" name="Google Shape;198;p10:notes">
            <a:extLst>
              <a:ext uri="{FF2B5EF4-FFF2-40B4-BE49-F238E27FC236}">
                <a16:creationId xmlns="" xmlns:a16="http://schemas.microsoft.com/office/drawing/2014/main" id="{01A6FF9F-971F-6CD8-61F5-25638A5985F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 xmlns:a16="http://schemas.microsoft.com/office/drawing/2014/main" id="{C8EB5C80-6A4B-AE05-9BE0-03B5AF5C22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827365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 xmlns:a16="http://schemas.microsoft.com/office/drawing/2014/main" id="{FB18EFA4-CD13-16C4-504B-6DB7E86CE039}"/>
            </a:ext>
          </a:extLst>
        </p:cNvPr>
        <p:cNvGrpSpPr/>
        <p:nvPr/>
      </p:nvGrpSpPr>
      <p:grpSpPr>
        <a:xfrm>
          <a:off x="0" y="0"/>
          <a:ext cx="0" cy="0"/>
          <a:chOff x="0" y="0"/>
          <a:chExt cx="0" cy="0"/>
        </a:xfrm>
      </p:grpSpPr>
      <p:sp>
        <p:nvSpPr>
          <p:cNvPr id="272" name="Google Shape;272;p18:notes">
            <a:extLst>
              <a:ext uri="{FF2B5EF4-FFF2-40B4-BE49-F238E27FC236}">
                <a16:creationId xmlns="" xmlns:a16="http://schemas.microsoft.com/office/drawing/2014/main" id="{E8E16183-6BFA-E60A-1235-F3BFB1B1F6E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 xmlns:a16="http://schemas.microsoft.com/office/drawing/2014/main" id="{C4420B06-3455-3F20-5E28-90535F24DA2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6517532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849817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hyperlink" Target="mailto:neerajkr101010@gmail.com"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AF97BF8-B3EC-77A2-9BFD-D66830272D56}"/>
              </a:ext>
            </a:extLst>
          </p:cNvPr>
          <p:cNvSpPr>
            <a:spLocks noGrp="1"/>
          </p:cNvSpPr>
          <p:nvPr>
            <p:ph type="title"/>
          </p:nvPr>
        </p:nvSpPr>
        <p:spPr/>
        <p:txBody>
          <a:bodyPr>
            <a:normAutofit/>
          </a:bodyPr>
          <a:lstStyle/>
          <a:p>
            <a:pPr algn="ctr"/>
            <a:r>
              <a:rPr lang="en-US" sz="6600" b="1" dirty="0"/>
              <a:t>IBM University Engagement Project Submission</a:t>
            </a:r>
            <a:r>
              <a:rPr lang="en-US" b="1" dirty="0"/>
              <a:t/>
            </a:r>
            <a:br>
              <a:rPr lang="en-US" b="1" dirty="0"/>
            </a:br>
            <a:endParaRPr lang="en-IN" dirty="0"/>
          </a:p>
        </p:txBody>
      </p:sp>
      <p:sp>
        <p:nvSpPr>
          <p:cNvPr id="3" name="Text Placeholder 2">
            <a:extLst>
              <a:ext uri="{FF2B5EF4-FFF2-40B4-BE49-F238E27FC236}">
                <a16:creationId xmlns=""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dirty="0"/>
              <a:t>“Exploring the Power of Agentic AI with IBM Granite and </a:t>
            </a:r>
            <a:r>
              <a:rPr lang="en-US" b="1" i="1" dirty="0" err="1"/>
              <a:t>LangFlow</a:t>
            </a:r>
            <a:r>
              <a:rPr lang="en-US" b="1" i="1" dirty="0"/>
              <a:t>”</a:t>
            </a:r>
            <a:endParaRPr lang="en-IN" dirty="0"/>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dirty="0">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3156461765"/>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 xmlns:a16="http://schemas.microsoft.com/office/drawing/2014/main" val="20000"/>
                    </a:ext>
                  </a:extLst>
                </a:gridCol>
                <a:gridCol w="2443374">
                  <a:extLst>
                    <a:ext uri="{9D8B030D-6E8A-4147-A177-3AD203B41FA5}">
                      <a16:colId xmlns="" xmlns:a16="http://schemas.microsoft.com/office/drawing/2014/main" val="20002"/>
                    </a:ext>
                  </a:extLst>
                </a:gridCol>
                <a:gridCol w="2443374">
                  <a:extLst>
                    <a:ext uri="{9D8B030D-6E8A-4147-A177-3AD203B41FA5}">
                      <a16:colId xmlns="" xmlns:a16="http://schemas.microsoft.com/office/drawing/2014/main" val="20003"/>
                    </a:ext>
                  </a:extLst>
                </a:gridCol>
                <a:gridCol w="2443374">
                  <a:extLst>
                    <a:ext uri="{9D8B030D-6E8A-4147-A177-3AD203B41FA5}">
                      <a16:colId xmlns=""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dirty="0"/>
                        <a:t>Student Name</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dirty="0"/>
                        <a:t>Recent Passport Photo</a:t>
                      </a:r>
                      <a:endParaRPr sz="1800" u="none" strike="noStrike" cap="none" dirty="0"/>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Arial"/>
                          <a:ea typeface="Calibri"/>
                          <a:cs typeface="Arial"/>
                          <a:sym typeface="Calibri"/>
                        </a:rPr>
                        <a:t>Email ID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Mobile number</a:t>
                      </a:r>
                      <a:endParaRPr sz="1800" b="0" i="0" u="none" strike="noStrike" cap="none" dirty="0">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[WhatsApp]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 xmlns:a16="http://schemas.microsoft.com/office/drawing/2014/main" val="10000"/>
                  </a:ext>
                </a:extLst>
              </a:tr>
              <a:tr h="1193891">
                <a:tc>
                  <a:txBody>
                    <a:bodyPr/>
                    <a:lstStyle/>
                    <a:p>
                      <a:pPr marL="0" marR="0" lvl="0" indent="0" algn="l" rtl="0">
                        <a:spcBef>
                          <a:spcPts val="0"/>
                        </a:spcBef>
                        <a:spcAft>
                          <a:spcPts val="0"/>
                        </a:spcAft>
                        <a:buNone/>
                      </a:pPr>
                      <a:r>
                        <a:rPr lang="en-IN" dirty="0" smtClean="0"/>
                        <a:t>NEERAJ</a:t>
                      </a:r>
                      <a:r>
                        <a:rPr lang="en-IN" baseline="0" dirty="0" smtClean="0"/>
                        <a:t> K R</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dirty="0" smtClean="0">
                          <a:hlinkClick r:id="rId3"/>
                        </a:rPr>
                        <a:t>neerajkr101010@gmail.com</a:t>
                      </a:r>
                      <a:r>
                        <a:rPr lang="en-IN" dirty="0" smtClean="0"/>
                        <a:t> </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IN" dirty="0" smtClean="0"/>
                        <a:t>9446962841</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 xmlns:a16="http://schemas.microsoft.com/office/drawing/2014/main" val="10001"/>
                  </a:ext>
                </a:extLst>
              </a:tr>
            </a:tbl>
          </a:graphicData>
        </a:graphic>
      </p:graphicFrame>
      <p:sp>
        <p:nvSpPr>
          <p:cNvPr id="4" name="TextBox 3">
            <a:extLst>
              <a:ext uri="{FF2B5EF4-FFF2-40B4-BE49-F238E27FC236}">
                <a16:creationId xmlns=""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a:t>
            </a:r>
            <a:r>
              <a:rPr lang="en-IN" sz="2400" dirty="0"/>
              <a:t>Education / </a:t>
            </a:r>
            <a:r>
              <a:rPr lang="en-IN" sz="2400" dirty="0" err="1"/>
              <a:t>EdTech</a:t>
            </a:r>
            <a:r>
              <a:rPr lang="en-IN" sz="2400" dirty="0"/>
              <a:t> / Career Preparation </a:t>
            </a:r>
            <a:endParaRPr lang="en-IN" sz="2400" b="1" dirty="0">
              <a:highlight>
                <a:srgbClr val="FFFF00"/>
              </a:highlight>
            </a:endParaRPr>
          </a:p>
        </p:txBody>
      </p:sp>
      <p:sp>
        <p:nvSpPr>
          <p:cNvPr id="7" name="TextBox 6">
            <a:extLst>
              <a:ext uri="{FF2B5EF4-FFF2-40B4-BE49-F238E27FC236}">
                <a16:creationId xmlns="" xmlns:a16="http://schemas.microsoft.com/office/drawing/2014/main"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dirty="0"/>
              <a:t>Project Tile – </a:t>
            </a:r>
            <a:r>
              <a:rPr lang="en-IN" sz="2400" dirty="0" err="1"/>
              <a:t>Agentic</a:t>
            </a:r>
            <a:r>
              <a:rPr lang="en-IN" sz="2400" dirty="0"/>
              <a:t> AI Technical Interviewer </a:t>
            </a:r>
            <a:endParaRPr lang="en-IN" sz="2400" b="1" dirty="0">
              <a:highlight>
                <a:srgbClr val="FFFF00"/>
              </a:highlight>
            </a:endParaRPr>
          </a:p>
        </p:txBody>
      </p:sp>
      <p:pic>
        <p:nvPicPr>
          <p:cNvPr id="2" name="Picture 1"/>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238625" y="3669094"/>
            <a:ext cx="690562" cy="887865"/>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 xmlns:a16="http://schemas.microsoft.com/office/drawing/2014/main" id="{C6F6745E-14BA-0766-CE1E-32E29663832D}"/>
              </a:ext>
            </a:extLst>
          </p:cNvPr>
          <p:cNvSpPr txBox="1"/>
          <p:nvPr/>
        </p:nvSpPr>
        <p:spPr>
          <a:xfrm>
            <a:off x="576072" y="1234440"/>
            <a:ext cx="10607040" cy="2246769"/>
          </a:xfrm>
          <a:prstGeom prst="rect">
            <a:avLst/>
          </a:prstGeom>
          <a:noFill/>
        </p:spPr>
        <p:txBody>
          <a:bodyPr wrap="square" rtlCol="0">
            <a:spAutoFit/>
          </a:bodyPr>
          <a:lstStyle/>
          <a:p>
            <a:pPr fontAlgn="base"/>
            <a:r>
              <a:rPr lang="en-US" b="1" dirty="0"/>
              <a:t>Problem Statement : </a:t>
            </a:r>
            <a:r>
              <a:rPr lang="en-US" dirty="0"/>
              <a:t>Problem Statement No. 22 - Interview Trainer Agent </a:t>
            </a:r>
            <a:endParaRPr lang="en-US" b="1" dirty="0"/>
          </a:p>
          <a:p>
            <a:pPr fontAlgn="base"/>
            <a:r>
              <a:rPr lang="en-US" b="1" dirty="0"/>
              <a:t>The Challenge</a:t>
            </a:r>
            <a:r>
              <a:rPr lang="en-US" dirty="0"/>
              <a:t> </a:t>
            </a:r>
          </a:p>
          <a:p>
            <a:pPr fontAlgn="base"/>
            <a:r>
              <a:rPr lang="en-US" dirty="0"/>
              <a:t>Students and job seekers often struggle to prepare for technical interviews. Generic preparation tools lack context, and traditional platforms cannot dynamically adapt to a candidate's specific background, experience level, or real-time answers. </a:t>
            </a:r>
          </a:p>
          <a:p>
            <a:pPr fontAlgn="base"/>
            <a:r>
              <a:rPr lang="en-US" b="1" dirty="0"/>
              <a:t>The Objective</a:t>
            </a:r>
            <a:r>
              <a:rPr lang="en-US" dirty="0"/>
              <a:t> </a:t>
            </a:r>
          </a:p>
          <a:p>
            <a:pPr fontAlgn="base"/>
            <a:r>
              <a:rPr lang="en-US" dirty="0"/>
              <a:t>Build an AI-powered Interview Trainer that conducts a realistic, back-and-forth technical mock interview. The solution should: </a:t>
            </a:r>
          </a:p>
          <a:p>
            <a:pPr marL="285750" indent="-285750" fontAlgn="base">
              <a:buFont typeface="Arial" panose="020B0604020202020204" pitchFamily="34" charset="0"/>
              <a:buChar char="•"/>
            </a:pPr>
            <a:r>
              <a:rPr lang="en-US" b="1" i="1" dirty="0"/>
              <a:t>Maintain Contextual Memory</a:t>
            </a:r>
            <a:r>
              <a:rPr lang="en-US" i="1" dirty="0"/>
              <a:t>:</a:t>
            </a:r>
            <a:r>
              <a:rPr lang="en-US" dirty="0"/>
              <a:t> Remember previous answers to ask intelligent follow-up questions. </a:t>
            </a:r>
            <a:endParaRPr lang="en-US" dirty="0" smtClean="0"/>
          </a:p>
          <a:p>
            <a:pPr marL="285750" indent="-285750" fontAlgn="base">
              <a:buFont typeface="Arial" panose="020B0604020202020204" pitchFamily="34" charset="0"/>
              <a:buChar char="•"/>
            </a:pPr>
            <a:r>
              <a:rPr lang="en-US" b="1" i="1" dirty="0"/>
              <a:t>Enforce Persona</a:t>
            </a:r>
            <a:r>
              <a:rPr lang="en-US" i="1" dirty="0"/>
              <a:t>:</a:t>
            </a:r>
            <a:r>
              <a:rPr lang="en-US" dirty="0"/>
              <a:t> Act strictly as an evaluator, not a helpful coding assistant.  </a:t>
            </a:r>
          </a:p>
          <a:p>
            <a:pPr marL="285750" indent="-285750" fontAlgn="base">
              <a:buFont typeface="Arial" panose="020B0604020202020204" pitchFamily="34" charset="0"/>
              <a:buChar char="•"/>
            </a:pPr>
            <a:r>
              <a:rPr lang="en-US" b="1" i="1" dirty="0"/>
              <a:t>Decoupled Interface</a:t>
            </a:r>
            <a:r>
              <a:rPr lang="en-US" i="1" dirty="0"/>
              <a:t>:</a:t>
            </a:r>
            <a:r>
              <a:rPr lang="en-US" dirty="0"/>
              <a:t> Provide a distraction-free, professional chat interface built outside of the standard </a:t>
            </a:r>
            <a:r>
              <a:rPr lang="en-US" dirty="0" err="1"/>
              <a:t>Langflow</a:t>
            </a:r>
            <a:r>
              <a:rPr lang="en-US" dirty="0"/>
              <a:t> playground. </a:t>
            </a:r>
          </a:p>
          <a:p>
            <a:endParaRPr lang="en-IN" dirty="0"/>
          </a:p>
        </p:txBody>
      </p:sp>
      <p:sp>
        <p:nvSpPr>
          <p:cNvPr id="3" name="TextBox 2">
            <a:extLst>
              <a:ext uri="{FF2B5EF4-FFF2-40B4-BE49-F238E27FC236}">
                <a16:creationId xmlns=""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dirty="0"/>
              <a:t>Problem Statement -</a:t>
            </a:r>
            <a:endParaRPr lang="en-IN" sz="2400" b="1" dirty="0"/>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 xmlns:a16="http://schemas.microsoft.com/office/drawing/2014/main" id="{6A77E81F-021A-57FB-C709-7E7075649101}"/>
            </a:ext>
          </a:extLst>
        </p:cNvPr>
        <p:cNvGrpSpPr/>
        <p:nvPr/>
      </p:nvGrpSpPr>
      <p:grpSpPr>
        <a:xfrm>
          <a:off x="0" y="0"/>
          <a:ext cx="0" cy="0"/>
          <a:chOff x="0" y="0"/>
          <a:chExt cx="0" cy="0"/>
        </a:xfrm>
      </p:grpSpPr>
      <p:sp>
        <p:nvSpPr>
          <p:cNvPr id="2" name="TextBox 1">
            <a:extLst>
              <a:ext uri="{FF2B5EF4-FFF2-40B4-BE49-F238E27FC236}">
                <a16:creationId xmlns="" xmlns:a16="http://schemas.microsoft.com/office/drawing/2014/main" id="{07CFCB91-EF22-EB8C-5B0D-4D46021F0245}"/>
              </a:ext>
            </a:extLst>
          </p:cNvPr>
          <p:cNvSpPr txBox="1"/>
          <p:nvPr/>
        </p:nvSpPr>
        <p:spPr>
          <a:xfrm>
            <a:off x="667512" y="1165753"/>
            <a:ext cx="10607040" cy="1815882"/>
          </a:xfrm>
          <a:prstGeom prst="rect">
            <a:avLst/>
          </a:prstGeom>
          <a:noFill/>
        </p:spPr>
        <p:txBody>
          <a:bodyPr wrap="square" rtlCol="0">
            <a:spAutoFit/>
          </a:bodyPr>
          <a:lstStyle/>
          <a:p>
            <a:pPr fontAlgn="base"/>
            <a:endParaRPr lang="en-US" b="1" dirty="0"/>
          </a:p>
          <a:p>
            <a:pPr fontAlgn="base"/>
            <a:r>
              <a:rPr lang="en-IN" b="1" dirty="0"/>
              <a:t>Tech Stack (Mandatory)</a:t>
            </a:r>
            <a:r>
              <a:rPr lang="en-IN" dirty="0"/>
              <a:t> </a:t>
            </a:r>
          </a:p>
          <a:p>
            <a:pPr fontAlgn="base"/>
            <a:endParaRPr lang="en-IN" dirty="0"/>
          </a:p>
          <a:p>
            <a:pPr fontAlgn="base"/>
            <a:r>
              <a:rPr lang="en-IN" dirty="0"/>
              <a:t>I used </a:t>
            </a:r>
            <a:r>
              <a:rPr lang="en-IN" dirty="0" err="1"/>
              <a:t>LangFlow</a:t>
            </a:r>
            <a:r>
              <a:rPr lang="en-IN" dirty="0"/>
              <a:t> + IBM watsonx.ai + Granite Models </a:t>
            </a:r>
            <a:endParaRPr lang="en-IN" dirty="0" smtClean="0"/>
          </a:p>
          <a:p>
            <a:pPr fontAlgn="base"/>
            <a:r>
              <a:rPr lang="en-US" b="1" dirty="0" smtClean="0"/>
              <a:t>Custom </a:t>
            </a:r>
            <a:r>
              <a:rPr lang="en-US" b="1" dirty="0"/>
              <a:t>Frontend/Backend:</a:t>
            </a:r>
            <a:r>
              <a:rPr lang="en-US" dirty="0"/>
              <a:t> MERN Stack (React.js, Node.js, Express)</a:t>
            </a:r>
            <a:endParaRPr lang="en-IN" dirty="0"/>
          </a:p>
          <a:p>
            <a:pPr fontAlgn="base"/>
            <a:endParaRPr lang="en-IN" dirty="0"/>
          </a:p>
          <a:p>
            <a:pPr fontAlgn="base"/>
            <a:endParaRPr lang="en-US" dirty="0"/>
          </a:p>
          <a:p>
            <a:endParaRPr lang="en-IN" dirty="0"/>
          </a:p>
        </p:txBody>
      </p:sp>
      <p:sp>
        <p:nvSpPr>
          <p:cNvPr id="3" name="TextBox 2">
            <a:extLst>
              <a:ext uri="{FF2B5EF4-FFF2-40B4-BE49-F238E27FC236}">
                <a16:creationId xmlns="" xmlns:a16="http://schemas.microsoft.com/office/drawing/2014/main" id="{FBD926A1-0833-2949-651F-2AAB4D91A8C9}"/>
              </a:ext>
            </a:extLst>
          </p:cNvPr>
          <p:cNvSpPr txBox="1"/>
          <p:nvPr/>
        </p:nvSpPr>
        <p:spPr>
          <a:xfrm>
            <a:off x="576072" y="704088"/>
            <a:ext cx="7214616" cy="461665"/>
          </a:xfrm>
          <a:prstGeom prst="rect">
            <a:avLst/>
          </a:prstGeom>
          <a:noFill/>
        </p:spPr>
        <p:txBody>
          <a:bodyPr wrap="square" rtlCol="0">
            <a:spAutoFit/>
          </a:bodyPr>
          <a:lstStyle/>
          <a:p>
            <a:r>
              <a:rPr lang="en-US" sz="2400" b="1" dirty="0"/>
              <a:t>Technology Used </a:t>
            </a:r>
            <a:endParaRPr lang="en-IN" sz="2400" b="1" dirty="0"/>
          </a:p>
        </p:txBody>
      </p:sp>
    </p:spTree>
    <p:extLst>
      <p:ext uri="{BB962C8B-B14F-4D97-AF65-F5344CB8AC3E}">
        <p14:creationId xmlns:p14="http://schemas.microsoft.com/office/powerpoint/2010/main" val="42184672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 xmlns:a16="http://schemas.microsoft.com/office/drawing/2014/main" id="{4A1BF701-ABCA-4DF0-8330-B6AF71EF8E39}"/>
              </a:ext>
            </a:extLst>
          </p:cNvPr>
          <p:cNvSpPr txBox="1"/>
          <p:nvPr/>
        </p:nvSpPr>
        <p:spPr>
          <a:xfrm>
            <a:off x="576072" y="1234440"/>
            <a:ext cx="10607040" cy="3108543"/>
          </a:xfrm>
          <a:prstGeom prst="rect">
            <a:avLst/>
          </a:prstGeom>
          <a:noFill/>
        </p:spPr>
        <p:txBody>
          <a:bodyPr wrap="square" rtlCol="0">
            <a:spAutoFit/>
          </a:bodyPr>
          <a:lstStyle/>
          <a:p>
            <a:pPr fontAlgn="base"/>
            <a:endParaRPr lang="en-US" b="1" dirty="0"/>
          </a:p>
          <a:p>
            <a:r>
              <a:rPr lang="en-US" b="1" dirty="0"/>
              <a:t>Proposed Solution: </a:t>
            </a:r>
            <a:r>
              <a:rPr lang="en-IN" b="1" dirty="0"/>
              <a:t>AI-Powered Technical Interviewer</a:t>
            </a:r>
            <a:r>
              <a:rPr lang="en-IN" dirty="0"/>
              <a:t> </a:t>
            </a:r>
            <a:endParaRPr lang="en-IN" dirty="0" smtClean="0"/>
          </a:p>
          <a:p>
            <a:r>
              <a:rPr lang="en-US" dirty="0"/>
              <a:t>The proposed solution is a full-stack web application integrated with </a:t>
            </a:r>
            <a:r>
              <a:rPr lang="en-US" dirty="0" err="1"/>
              <a:t>Langflow</a:t>
            </a:r>
            <a:r>
              <a:rPr lang="en-US" dirty="0"/>
              <a:t> and IBM watsonx.ai to provide realistic, dynamic technical mock interviews</a:t>
            </a:r>
            <a:r>
              <a:rPr lang="en-US" dirty="0" smtClean="0"/>
              <a:t>.</a:t>
            </a:r>
          </a:p>
          <a:p>
            <a:r>
              <a:rPr lang="en-US" dirty="0"/>
              <a:t>The system addresses the lack of personalized interview prep through a decoupled, memory-enabled architecture</a:t>
            </a:r>
            <a:r>
              <a:rPr lang="en-US" dirty="0" smtClean="0"/>
              <a:t>.</a:t>
            </a:r>
          </a:p>
          <a:p>
            <a:r>
              <a:rPr lang="en-US" dirty="0"/>
              <a:t>At its core, the solution utilizes a customized </a:t>
            </a:r>
            <a:r>
              <a:rPr lang="en-US" dirty="0" err="1"/>
              <a:t>Langflow</a:t>
            </a:r>
            <a:r>
              <a:rPr lang="en-US" dirty="0"/>
              <a:t> pipeline to orchestrate the AI logic. Instead of answering user questions, the agent is engineered to drive the conversation, evaluate technical responses, and generate targeted follow-up questions.</a:t>
            </a:r>
          </a:p>
          <a:p>
            <a:r>
              <a:rPr lang="en-IN" dirty="0"/>
              <a:t>The Architecture consists of</a:t>
            </a:r>
            <a:r>
              <a:rPr lang="en-IN" dirty="0" smtClean="0"/>
              <a:t>:</a:t>
            </a:r>
          </a:p>
          <a:p>
            <a:r>
              <a:rPr lang="en-US" b="1" dirty="0"/>
              <a:t>React Frontend:</a:t>
            </a:r>
            <a:r>
              <a:rPr lang="en-US" dirty="0"/>
              <a:t> A custom, professional chat UI that captures candidate responses. </a:t>
            </a:r>
            <a:endParaRPr lang="en-US" dirty="0" smtClean="0"/>
          </a:p>
          <a:p>
            <a:r>
              <a:rPr lang="en-US" b="1" dirty="0"/>
              <a:t>Express Backend:</a:t>
            </a:r>
            <a:r>
              <a:rPr lang="en-US" dirty="0"/>
              <a:t> A Node.js server that securely routes API calls to </a:t>
            </a:r>
            <a:r>
              <a:rPr lang="en-US" dirty="0" err="1"/>
              <a:t>Langflow</a:t>
            </a:r>
            <a:r>
              <a:rPr lang="en-US" dirty="0"/>
              <a:t>, keeping API keys hidden from the client. </a:t>
            </a:r>
            <a:endParaRPr lang="en-US" dirty="0" smtClean="0"/>
          </a:p>
          <a:p>
            <a:r>
              <a:rPr lang="en-US" b="1" dirty="0" err="1"/>
              <a:t>Langflow</a:t>
            </a:r>
            <a:r>
              <a:rPr lang="en-US" b="1" dirty="0"/>
              <a:t> Engine:</a:t>
            </a:r>
            <a:r>
              <a:rPr lang="en-US" dirty="0"/>
              <a:t> Manages the conversational memory and prompt templates. </a:t>
            </a:r>
            <a:endParaRPr lang="en-US" dirty="0" smtClean="0"/>
          </a:p>
          <a:p>
            <a:r>
              <a:rPr lang="en-US" b="1" dirty="0"/>
              <a:t>IBM watsonx.ai:</a:t>
            </a:r>
            <a:r>
              <a:rPr lang="en-US" dirty="0"/>
              <a:t> Powers the reasoning using </a:t>
            </a:r>
            <a:r>
              <a:rPr lang="en-US" dirty="0" smtClean="0"/>
              <a:t>the </a:t>
            </a:r>
            <a:r>
              <a:rPr lang="en-US" dirty="0" err="1" smtClean="0"/>
              <a:t>ibm</a:t>
            </a:r>
            <a:r>
              <a:rPr lang="en-US" dirty="0" smtClean="0"/>
              <a:t>/granite-8b-code-instruct model</a:t>
            </a:r>
            <a:r>
              <a:rPr lang="en-US" dirty="0"/>
              <a:t>, specifically chosen for its deep understanding of programming and system design concepts. </a:t>
            </a:r>
          </a:p>
          <a:p>
            <a:endParaRPr lang="en-IN" dirty="0"/>
          </a:p>
        </p:txBody>
      </p:sp>
      <p:sp>
        <p:nvSpPr>
          <p:cNvPr id="3" name="TextBox 2">
            <a:extLst>
              <a:ext uri="{FF2B5EF4-FFF2-40B4-BE49-F238E27FC236}">
                <a16:creationId xmlns=""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dirty="0"/>
              <a:t>Proposed Solution -</a:t>
            </a:r>
            <a:endParaRPr lang="en-IN" sz="2400" b="1" dirty="0"/>
          </a:p>
        </p:txBody>
      </p:sp>
    </p:spTree>
    <p:extLst>
      <p:ext uri="{BB962C8B-B14F-4D97-AF65-F5344CB8AC3E}">
        <p14:creationId xmlns:p14="http://schemas.microsoft.com/office/powerpoint/2010/main" val="22902949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31">
          <a:extLst>
            <a:ext uri="{FF2B5EF4-FFF2-40B4-BE49-F238E27FC236}">
              <a16:creationId xmlns="" xmlns:a16="http://schemas.microsoft.com/office/drawing/2014/main" id="{CDF2A78E-5A0E-6814-8AF4-0AE54B0366E1}"/>
            </a:ext>
          </a:extLst>
        </p:cNvPr>
        <p:cNvGrpSpPr/>
        <p:nvPr/>
      </p:nvGrpSpPr>
      <p:grpSpPr>
        <a:xfrm>
          <a:off x="0" y="0"/>
          <a:ext cx="0" cy="0"/>
          <a:chOff x="0" y="0"/>
          <a:chExt cx="0" cy="0"/>
        </a:xfrm>
      </p:grpSpPr>
      <p:sp>
        <p:nvSpPr>
          <p:cNvPr id="135" name="Google Shape;135;p5">
            <a:extLst>
              <a:ext uri="{FF2B5EF4-FFF2-40B4-BE49-F238E27FC236}">
                <a16:creationId xmlns="" xmlns:a16="http://schemas.microsoft.com/office/drawing/2014/main" id="{2A145802-2DD3-EEBA-7D44-210C05B98C91}"/>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err="1">
                <a:sym typeface="Times New Roman"/>
              </a:rPr>
              <a:t>Langflow</a:t>
            </a:r>
            <a:r>
              <a:rPr lang="en-US" sz="3500" b="1" i="0" u="none" strike="noStrike" cap="none" dirty="0">
                <a:solidFill>
                  <a:srgbClr val="051D3A"/>
                </a:solidFill>
                <a:latin typeface="Times New Roman"/>
                <a:ea typeface="Times New Roman"/>
                <a:cs typeface="Times New Roman"/>
                <a:sym typeface="Times New Roman"/>
              </a:rPr>
              <a:t> </a:t>
            </a:r>
            <a:r>
              <a:rPr lang="en-US" sz="2400" b="1" dirty="0">
                <a:sym typeface="Times New Roman"/>
              </a:rPr>
              <a:t>component Used -</a:t>
            </a:r>
            <a:endParaRPr sz="2400" b="1" dirty="0">
              <a:sym typeface="Times New Roman"/>
            </a:endParaRPr>
          </a:p>
        </p:txBody>
      </p:sp>
      <p:sp>
        <p:nvSpPr>
          <p:cNvPr id="148" name="Google Shape;148;p5">
            <a:extLst>
              <a:ext uri="{FF2B5EF4-FFF2-40B4-BE49-F238E27FC236}">
                <a16:creationId xmlns="" xmlns:a16="http://schemas.microsoft.com/office/drawing/2014/main" id="{69E3EADC-1EAD-7419-145C-20998925206E}"/>
              </a:ext>
            </a:extLst>
          </p:cNvPr>
          <p:cNvSpPr/>
          <p:nvPr/>
        </p:nvSpPr>
        <p:spPr>
          <a:xfrm>
            <a:off x="2264331" y="6784578"/>
            <a:ext cx="2140744"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49" name="Google Shape;149;p5">
            <a:extLst>
              <a:ext uri="{FF2B5EF4-FFF2-40B4-BE49-F238E27FC236}">
                <a16:creationId xmlns="" xmlns:a16="http://schemas.microsoft.com/office/drawing/2014/main" id="{04E5872A-C331-C8F3-5D71-8E953BAAFE03}"/>
              </a:ext>
            </a:extLst>
          </p:cNvPr>
          <p:cNvSpPr/>
          <p:nvPr/>
        </p:nvSpPr>
        <p:spPr>
          <a:xfrm>
            <a:off x="1782604"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0" name="Google Shape;150;p5">
            <a:extLst>
              <a:ext uri="{FF2B5EF4-FFF2-40B4-BE49-F238E27FC236}">
                <a16:creationId xmlns="" xmlns:a16="http://schemas.microsoft.com/office/drawing/2014/main" id="{76EF3801-5D99-5EFA-9AA2-AD265775E354}"/>
              </a:ext>
            </a:extLst>
          </p:cNvPr>
          <p:cNvSpPr/>
          <p:nvPr/>
        </p:nvSpPr>
        <p:spPr>
          <a:xfrm>
            <a:off x="5732383"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1" name="Google Shape;151;p5">
            <a:extLst>
              <a:ext uri="{FF2B5EF4-FFF2-40B4-BE49-F238E27FC236}">
                <a16:creationId xmlns="" xmlns:a16="http://schemas.microsoft.com/office/drawing/2014/main" id="{DAD76A8A-9F2C-9EA9-25E9-40CD0FFAA869}"/>
              </a:ext>
            </a:extLst>
          </p:cNvPr>
          <p:cNvSpPr/>
          <p:nvPr/>
        </p:nvSpPr>
        <p:spPr>
          <a:xfrm>
            <a:off x="5077301"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2" name="Google Shape;152;p5">
            <a:extLst>
              <a:ext uri="{FF2B5EF4-FFF2-40B4-BE49-F238E27FC236}">
                <a16:creationId xmlns="" xmlns:a16="http://schemas.microsoft.com/office/drawing/2014/main" id="{8D9C4260-2673-337C-C898-4C22E0F8FD65}"/>
              </a:ext>
            </a:extLst>
          </p:cNvPr>
          <p:cNvSpPr/>
          <p:nvPr/>
        </p:nvSpPr>
        <p:spPr>
          <a:xfrm>
            <a:off x="9027081" y="6784578"/>
            <a:ext cx="1793915" cy="224195"/>
          </a:xfrm>
          <a:prstGeom prst="rect">
            <a:avLst/>
          </a:prstGeom>
          <a:noFill/>
          <a:ln>
            <a:noFill/>
          </a:ln>
        </p:spPr>
        <p:txBody>
          <a:bodyPr spcFirstLastPara="1" wrap="square" lIns="0" tIns="0" rIns="0" bIns="0" anchor="t" anchorCtr="0">
            <a:noAutofit/>
          </a:bodyPr>
          <a:lstStyle/>
          <a:p>
            <a:pPr marL="0" marR="0" lvl="0" indent="0" algn="ctr" rtl="0">
              <a:lnSpc>
                <a:spcPct val="109375"/>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153" name="Google Shape;153;p5">
            <a:extLst>
              <a:ext uri="{FF2B5EF4-FFF2-40B4-BE49-F238E27FC236}">
                <a16:creationId xmlns="" xmlns:a16="http://schemas.microsoft.com/office/drawing/2014/main" id="{6167C3C6-3747-E373-84C3-3927C443B067}"/>
              </a:ext>
            </a:extLst>
          </p:cNvPr>
          <p:cNvSpPr/>
          <p:nvPr/>
        </p:nvSpPr>
        <p:spPr>
          <a:xfrm>
            <a:off x="8371999" y="7100213"/>
            <a:ext cx="3104198" cy="731877"/>
          </a:xfrm>
          <a:prstGeom prst="rect">
            <a:avLst/>
          </a:prstGeom>
          <a:noFill/>
          <a:ln>
            <a:noFill/>
          </a:ln>
        </p:spPr>
        <p:txBody>
          <a:bodyPr spcFirstLastPara="1" wrap="square" lIns="0" tIns="0" rIns="0" bIns="0" anchor="t" anchorCtr="0">
            <a:noAutofit/>
          </a:bodyPr>
          <a:lstStyle/>
          <a:p>
            <a:pPr marL="0" marR="0" lvl="0" indent="0" algn="ctr" rtl="0">
              <a:lnSpc>
                <a:spcPct val="118750"/>
              </a:lnSpc>
              <a:spcBef>
                <a:spcPts val="0"/>
              </a:spcBef>
              <a:spcAft>
                <a:spcPts val="0"/>
              </a:spcAft>
              <a:buClr>
                <a:schemeClr val="dk1"/>
              </a:buClr>
              <a:buSzPts val="1600"/>
              <a:buFont typeface="Calibri"/>
              <a:buNone/>
            </a:pPr>
            <a:endParaRPr sz="1600" b="0" i="0" u="none" strike="noStrike" cap="none">
              <a:solidFill>
                <a:srgbClr val="000000"/>
              </a:solidFill>
              <a:latin typeface="Times New Roman"/>
              <a:ea typeface="Times New Roman"/>
              <a:cs typeface="Times New Roman"/>
              <a:sym typeface="Times New Roman"/>
            </a:endParaRPr>
          </a:p>
        </p:txBody>
      </p:sp>
      <p:sp>
        <p:nvSpPr>
          <p:cNvPr id="2" name="TextBox 1">
            <a:extLst>
              <a:ext uri="{FF2B5EF4-FFF2-40B4-BE49-F238E27FC236}">
                <a16:creationId xmlns="" xmlns:a16="http://schemas.microsoft.com/office/drawing/2014/main" id="{9BB86949-7ED1-C43B-B1E3-5122BB67A596}"/>
              </a:ext>
            </a:extLst>
          </p:cNvPr>
          <p:cNvSpPr txBox="1"/>
          <p:nvPr/>
        </p:nvSpPr>
        <p:spPr>
          <a:xfrm>
            <a:off x="474822" y="863187"/>
            <a:ext cx="8823960" cy="5047536"/>
          </a:xfrm>
          <a:prstGeom prst="rect">
            <a:avLst/>
          </a:prstGeom>
          <a:noFill/>
        </p:spPr>
        <p:txBody>
          <a:bodyPr wrap="square" rtlCol="0">
            <a:spAutoFit/>
          </a:bodyPr>
          <a:lstStyle/>
          <a:p>
            <a:endParaRPr lang="en-US" dirty="0"/>
          </a:p>
          <a:p>
            <a:r>
              <a:rPr lang="en-US" b="1" dirty="0" smtClean="0"/>
              <a:t>1)Chat </a:t>
            </a:r>
            <a:r>
              <a:rPr lang="en-US" b="1" dirty="0"/>
              <a:t>Input </a:t>
            </a:r>
            <a:r>
              <a:rPr lang="en-US" dirty="0"/>
              <a:t>– Receives the candidate's answers from the Express backend via API. </a:t>
            </a:r>
            <a:endParaRPr lang="en-US" dirty="0" smtClean="0"/>
          </a:p>
          <a:p>
            <a:pPr marL="342900" indent="-342900">
              <a:buAutoNum type="arabicParenR"/>
            </a:pPr>
            <a:endParaRPr lang="en-US" dirty="0"/>
          </a:p>
          <a:p>
            <a:r>
              <a:rPr lang="en-US" b="1" dirty="0" smtClean="0"/>
              <a:t>2)Message </a:t>
            </a:r>
            <a:r>
              <a:rPr lang="en-US" b="1" dirty="0"/>
              <a:t>History (Memory Node):</a:t>
            </a:r>
            <a:r>
              <a:rPr lang="en-US" dirty="0"/>
              <a:t> Stores the ongoing interview conversation, allowing the AI to remember past questions and candidate responses to maintain context. </a:t>
            </a:r>
            <a:endParaRPr lang="en-US" dirty="0" smtClean="0"/>
          </a:p>
          <a:p>
            <a:endParaRPr lang="en-US" dirty="0" smtClean="0"/>
          </a:p>
          <a:p>
            <a:endParaRPr lang="en-US" b="1" dirty="0" smtClean="0"/>
          </a:p>
          <a:p>
            <a:r>
              <a:rPr lang="en-US" b="1" dirty="0" smtClean="0"/>
              <a:t>3) </a:t>
            </a:r>
            <a:r>
              <a:rPr lang="en-US" b="1" dirty="0"/>
              <a:t>Prompt Template:</a:t>
            </a:r>
            <a:r>
              <a:rPr lang="en-US" dirty="0"/>
              <a:t> Contains the strict system instructions (Prompt Engineering) and variables </a:t>
            </a:r>
            <a:r>
              <a:rPr lang="en-US" dirty="0" smtClean="0"/>
              <a:t> </a:t>
            </a:r>
            <a:r>
              <a:rPr lang="en-US" dirty="0"/>
              <a:t>that force the AI to act as an interviewer rather than a standard </a:t>
            </a:r>
            <a:r>
              <a:rPr lang="en-US" dirty="0" err="1"/>
              <a:t>chatbot</a:t>
            </a:r>
            <a:r>
              <a:rPr lang="en-US" dirty="0"/>
              <a:t>. </a:t>
            </a:r>
          </a:p>
          <a:p>
            <a:endParaRPr lang="en-US" dirty="0"/>
          </a:p>
          <a:p>
            <a:r>
              <a:rPr lang="en-US" b="1" dirty="0"/>
              <a:t>4) IBM watsonx.ai Agent:</a:t>
            </a:r>
            <a:r>
              <a:rPr lang="en-US" dirty="0"/>
              <a:t> Processes the prompt and memory payload</a:t>
            </a:r>
            <a:r>
              <a:rPr lang="en-US" dirty="0" smtClean="0"/>
              <a:t>.</a:t>
            </a:r>
          </a:p>
          <a:p>
            <a:endParaRPr lang="en-US" dirty="0"/>
          </a:p>
          <a:p>
            <a:r>
              <a:rPr lang="en-US" b="1" dirty="0" smtClean="0"/>
              <a:t>5) </a:t>
            </a:r>
            <a:r>
              <a:rPr lang="en-US" b="1" dirty="0"/>
              <a:t>Name of IBM Granite </a:t>
            </a:r>
            <a:r>
              <a:rPr lang="en-US" b="1" dirty="0" err="1" smtClean="0"/>
              <a:t>model:</a:t>
            </a:r>
            <a:r>
              <a:rPr lang="en-US" dirty="0" err="1" smtClean="0"/>
              <a:t>ibm</a:t>
            </a:r>
            <a:r>
              <a:rPr lang="en-US" dirty="0" smtClean="0"/>
              <a:t>/granite-8b-code-instruct </a:t>
            </a:r>
            <a:r>
              <a:rPr lang="en-US" dirty="0"/>
              <a:t>→ Highly efficient for evaluating technical, architectural, and coding-related interview answers.</a:t>
            </a:r>
            <a:endParaRPr lang="en-US" dirty="0" smtClean="0"/>
          </a:p>
          <a:p>
            <a:endParaRPr lang="en-US" dirty="0"/>
          </a:p>
          <a:p>
            <a:r>
              <a:rPr lang="en-US" dirty="0"/>
              <a:t>6) </a:t>
            </a:r>
            <a:r>
              <a:rPr lang="en-US" b="1" dirty="0"/>
              <a:t>Chat Output:</a:t>
            </a:r>
            <a:r>
              <a:rPr lang="en-US" dirty="0"/>
              <a:t> Formats the AI's next interview question and returns it to the Node.js backend.</a:t>
            </a:r>
          </a:p>
          <a:p>
            <a:endParaRPr lang="en-US" dirty="0"/>
          </a:p>
          <a:p>
            <a:endParaRPr lang="en-US" dirty="0"/>
          </a:p>
          <a:p>
            <a:endParaRPr lang="en-US" dirty="0"/>
          </a:p>
          <a:p>
            <a:endParaRPr lang="en-US" dirty="0"/>
          </a:p>
          <a:p>
            <a:endParaRPr lang="en-US" dirty="0"/>
          </a:p>
          <a:p>
            <a:endParaRPr lang="en-US" dirty="0"/>
          </a:p>
          <a:p>
            <a:r>
              <a:rPr lang="en-US" dirty="0"/>
              <a:t> </a:t>
            </a:r>
            <a:endParaRPr lang="en-IN" dirty="0"/>
          </a:p>
        </p:txBody>
      </p:sp>
    </p:spTree>
    <p:extLst>
      <p:ext uri="{BB962C8B-B14F-4D97-AF65-F5344CB8AC3E}">
        <p14:creationId xmlns:p14="http://schemas.microsoft.com/office/powerpoint/2010/main" val="328526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3">
          <a:extLst>
            <a:ext uri="{FF2B5EF4-FFF2-40B4-BE49-F238E27FC236}">
              <a16:creationId xmlns="" xmlns:a16="http://schemas.microsoft.com/office/drawing/2014/main" id="{CA6090C0-0478-84F9-6D20-717B6FEB7326}"/>
            </a:ext>
          </a:extLst>
        </p:cNvPr>
        <p:cNvGrpSpPr/>
        <p:nvPr/>
      </p:nvGrpSpPr>
      <p:grpSpPr>
        <a:xfrm>
          <a:off x="0" y="0"/>
          <a:ext cx="0" cy="0"/>
          <a:chOff x="0" y="0"/>
          <a:chExt cx="0" cy="0"/>
        </a:xfrm>
      </p:grpSpPr>
      <p:sp>
        <p:nvSpPr>
          <p:cNvPr id="2" name="Google Shape;135;p5">
            <a:extLst>
              <a:ext uri="{FF2B5EF4-FFF2-40B4-BE49-F238E27FC236}">
                <a16:creationId xmlns="" xmlns:a16="http://schemas.microsoft.com/office/drawing/2014/main" id="{B64CF172-D2AF-03D8-F919-AA7827A0D969}"/>
              </a:ext>
            </a:extLst>
          </p:cNvPr>
          <p:cNvSpPr/>
          <p:nvPr/>
        </p:nvSpPr>
        <p:spPr>
          <a:xfrm>
            <a:off x="537590" y="323239"/>
            <a:ext cx="5908929" cy="448508"/>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51D3A"/>
              </a:buClr>
              <a:buSzPts val="3500"/>
              <a:buFont typeface="Times New Roman"/>
              <a:buNone/>
            </a:pPr>
            <a:r>
              <a:rPr lang="en-US" sz="2400" b="1" dirty="0" err="1">
                <a:sym typeface="Times New Roman"/>
              </a:rPr>
              <a:t>Langflow</a:t>
            </a:r>
            <a:r>
              <a:rPr lang="en-US" sz="3500" b="1" i="0" u="none" strike="noStrike" cap="none" dirty="0">
                <a:solidFill>
                  <a:srgbClr val="051D3A"/>
                </a:solidFill>
                <a:latin typeface="Times New Roman"/>
                <a:ea typeface="Times New Roman"/>
                <a:cs typeface="Times New Roman"/>
                <a:sym typeface="Times New Roman"/>
              </a:rPr>
              <a:t> </a:t>
            </a:r>
            <a:r>
              <a:rPr lang="en-US" sz="2400" b="1" dirty="0">
                <a:sym typeface="Times New Roman"/>
              </a:rPr>
              <a:t>workflow -</a:t>
            </a:r>
            <a:endParaRPr sz="2400" b="1" dirty="0">
              <a:sym typeface="Times New Roman"/>
            </a:endParaRPr>
          </a:p>
        </p:txBody>
      </p:sp>
      <p:pic>
        <p:nvPicPr>
          <p:cNvPr id="3" name="Picture 2"/>
          <p:cNvPicPr>
            <a:picLocks noChangeAspect="1"/>
          </p:cNvPicPr>
          <p:nvPr/>
        </p:nvPicPr>
        <p:blipFill>
          <a:blip r:embed="rId3"/>
          <a:stretch>
            <a:fillRect/>
          </a:stretch>
        </p:blipFill>
        <p:spPr>
          <a:xfrm>
            <a:off x="609124" y="925613"/>
            <a:ext cx="10973751" cy="5006774"/>
          </a:xfrm>
          <a:prstGeom prst="rect">
            <a:avLst/>
          </a:prstGeom>
        </p:spPr>
      </p:pic>
    </p:spTree>
    <p:extLst>
      <p:ext uri="{BB962C8B-B14F-4D97-AF65-F5344CB8AC3E}">
        <p14:creationId xmlns:p14="http://schemas.microsoft.com/office/powerpoint/2010/main" val="27725019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2" name="TextBox 1">
            <a:extLst>
              <a:ext uri="{FF2B5EF4-FFF2-40B4-BE49-F238E27FC236}">
                <a16:creationId xmlns=""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dirty="0"/>
              <a:t>Role of Agentic AI in the solution </a:t>
            </a:r>
            <a:endParaRPr lang="en-IN" sz="3200" b="1" dirty="0"/>
          </a:p>
        </p:txBody>
      </p:sp>
      <p:sp>
        <p:nvSpPr>
          <p:cNvPr id="3" name="TextBox 2">
            <a:extLst>
              <a:ext uri="{FF2B5EF4-FFF2-40B4-BE49-F238E27FC236}">
                <a16:creationId xmlns="" xmlns:a16="http://schemas.microsoft.com/office/drawing/2014/main" id="{322462E8-EB3A-DA7D-44CB-4E757803A755}"/>
              </a:ext>
            </a:extLst>
          </p:cNvPr>
          <p:cNvSpPr txBox="1"/>
          <p:nvPr/>
        </p:nvSpPr>
        <p:spPr>
          <a:xfrm>
            <a:off x="621792" y="1167493"/>
            <a:ext cx="7406640" cy="2462213"/>
          </a:xfrm>
          <a:prstGeom prst="rect">
            <a:avLst/>
          </a:prstGeom>
          <a:noFill/>
        </p:spPr>
        <p:txBody>
          <a:bodyPr wrap="square" rtlCol="0">
            <a:spAutoFit/>
          </a:bodyPr>
          <a:lstStyle/>
          <a:p>
            <a:r>
              <a:rPr lang="en-US" dirty="0"/>
              <a:t>Role of </a:t>
            </a:r>
            <a:r>
              <a:rPr lang="en-US" dirty="0" err="1"/>
              <a:t>Agentic</a:t>
            </a:r>
            <a:r>
              <a:rPr lang="en-US" dirty="0"/>
              <a:t> AI in the Interview </a:t>
            </a:r>
            <a:r>
              <a:rPr lang="en-US" dirty="0" smtClean="0"/>
              <a:t>Trainer</a:t>
            </a:r>
          </a:p>
          <a:p>
            <a:r>
              <a:rPr lang="en-US" dirty="0" err="1"/>
              <a:t>Agentic</a:t>
            </a:r>
            <a:r>
              <a:rPr lang="en-US" dirty="0"/>
              <a:t> AI enables the Interviewer to function as a dynamic evaluator rather than a simple call-and-response bot. </a:t>
            </a:r>
            <a:endParaRPr lang="en-US" dirty="0" smtClean="0"/>
          </a:p>
          <a:p>
            <a:r>
              <a:rPr lang="en-US" b="1" dirty="0"/>
              <a:t>Autonomous Conversation Driver:</a:t>
            </a:r>
            <a:r>
              <a:rPr lang="en-US" dirty="0"/>
              <a:t> The agent takes control of the flow. Instead of waiting for the user to ask a question, the agent formulates the next logical technical question based on the user's previous answer. </a:t>
            </a:r>
            <a:endParaRPr lang="en-US" dirty="0" smtClean="0"/>
          </a:p>
          <a:p>
            <a:r>
              <a:rPr lang="en-US" b="1" dirty="0"/>
              <a:t>Contextual Reasoning:</a:t>
            </a:r>
            <a:r>
              <a:rPr lang="en-US" dirty="0"/>
              <a:t> By utilizing the Message History component, the AI analyzes the candidate's historical answers (e.g., if they mention using </a:t>
            </a:r>
            <a:r>
              <a:rPr lang="en-US" dirty="0" err="1"/>
              <a:t>MongoDB</a:t>
            </a:r>
            <a:r>
              <a:rPr lang="en-US" dirty="0"/>
              <a:t>, the agent will dynamically pivot to ask about </a:t>
            </a:r>
            <a:r>
              <a:rPr lang="en-US" dirty="0" err="1"/>
              <a:t>NoSQL</a:t>
            </a:r>
            <a:r>
              <a:rPr lang="en-US" dirty="0"/>
              <a:t> schema design</a:t>
            </a:r>
            <a:r>
              <a:rPr lang="en-US" dirty="0" smtClean="0"/>
              <a:t>)</a:t>
            </a:r>
          </a:p>
          <a:p>
            <a:r>
              <a:rPr lang="en-US" dirty="0"/>
              <a:t>Overall, </a:t>
            </a:r>
            <a:r>
              <a:rPr lang="en-US" dirty="0" err="1"/>
              <a:t>Agentic</a:t>
            </a:r>
            <a:r>
              <a:rPr lang="en-US" dirty="0"/>
              <a:t> AI makes the system proactive and goal-driven, acting exactly like a strict Senior Developer evaluating a candidate.</a:t>
            </a:r>
          </a:p>
        </p:txBody>
      </p:sp>
      <p:pic>
        <p:nvPicPr>
          <p:cNvPr id="5" name="Picture 4"/>
          <p:cNvPicPr>
            <a:picLocks noChangeAspect="1"/>
          </p:cNvPicPr>
          <p:nvPr/>
        </p:nvPicPr>
        <p:blipFill>
          <a:blip r:embed="rId3"/>
          <a:stretch>
            <a:fillRect/>
          </a:stretch>
        </p:blipFill>
        <p:spPr>
          <a:xfrm>
            <a:off x="8028432" y="443610"/>
            <a:ext cx="3749365" cy="5875529"/>
          </a:xfrm>
          <a:prstGeom prst="rect">
            <a:avLst/>
          </a:prstGeom>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 xmlns:a16="http://schemas.microsoft.com/office/drawing/2014/main" id="{7C2A09DE-0AE2-AA94-B2C1-84FDBDB9DC64}"/>
            </a:ext>
          </a:extLst>
        </p:cNvPr>
        <p:cNvGrpSpPr/>
        <p:nvPr/>
      </p:nvGrpSpPr>
      <p:grpSpPr>
        <a:xfrm>
          <a:off x="0" y="0"/>
          <a:ext cx="0" cy="0"/>
          <a:chOff x="0" y="0"/>
          <a:chExt cx="0" cy="0"/>
        </a:xfrm>
      </p:grpSpPr>
      <p:sp>
        <p:nvSpPr>
          <p:cNvPr id="2" name="TextBox 1">
            <a:extLst>
              <a:ext uri="{FF2B5EF4-FFF2-40B4-BE49-F238E27FC236}">
                <a16:creationId xmlns="" xmlns:a16="http://schemas.microsoft.com/office/drawing/2014/main" id="{151FBD4A-3273-E454-091D-D5B0678FC299}"/>
              </a:ext>
            </a:extLst>
          </p:cNvPr>
          <p:cNvSpPr txBox="1"/>
          <p:nvPr/>
        </p:nvSpPr>
        <p:spPr>
          <a:xfrm>
            <a:off x="777240" y="484632"/>
            <a:ext cx="7123176" cy="461665"/>
          </a:xfrm>
          <a:prstGeom prst="rect">
            <a:avLst/>
          </a:prstGeom>
          <a:noFill/>
        </p:spPr>
        <p:txBody>
          <a:bodyPr wrap="square" rtlCol="0">
            <a:spAutoFit/>
          </a:bodyPr>
          <a:lstStyle/>
          <a:p>
            <a:r>
              <a:rPr lang="en-US" sz="2400" b="1" dirty="0"/>
              <a:t>Technology Used</a:t>
            </a:r>
            <a:endParaRPr lang="en-IN" sz="2400" b="1" dirty="0"/>
          </a:p>
        </p:txBody>
      </p:sp>
      <p:sp>
        <p:nvSpPr>
          <p:cNvPr id="3" name="TextBox 2">
            <a:extLst>
              <a:ext uri="{FF2B5EF4-FFF2-40B4-BE49-F238E27FC236}">
                <a16:creationId xmlns="" xmlns:a16="http://schemas.microsoft.com/office/drawing/2014/main" id="{4A7608B5-9906-EFCF-959A-E89FC2E3EE19}"/>
              </a:ext>
            </a:extLst>
          </p:cNvPr>
          <p:cNvSpPr txBox="1"/>
          <p:nvPr/>
        </p:nvSpPr>
        <p:spPr>
          <a:xfrm>
            <a:off x="777240" y="1207008"/>
            <a:ext cx="10515600" cy="3570208"/>
          </a:xfrm>
          <a:prstGeom prst="rect">
            <a:avLst/>
          </a:prstGeom>
          <a:noFill/>
        </p:spPr>
        <p:txBody>
          <a:bodyPr wrap="square" rtlCol="0">
            <a:spAutoFit/>
          </a:bodyPr>
          <a:lstStyle/>
          <a:p>
            <a:pPr marL="285750" indent="-285750">
              <a:buFont typeface="Arial" panose="020B0604020202020204" pitchFamily="34" charset="0"/>
              <a:buChar char="•"/>
            </a:pPr>
            <a:r>
              <a:rPr lang="en-US" sz="1800" b="1" dirty="0" err="1"/>
              <a:t>Langflow</a:t>
            </a:r>
            <a:r>
              <a:rPr lang="en-US" sz="1800" b="1" dirty="0"/>
              <a:t> platform </a:t>
            </a:r>
            <a:r>
              <a:rPr lang="en-US" sz="1800" dirty="0" smtClean="0"/>
              <a:t>-</a:t>
            </a:r>
            <a:r>
              <a:rPr lang="en-US" sz="1800" dirty="0"/>
              <a:t>Used to visually design the AI pipeline, manage Prompt Engineering, and wire the Message History memory nodes. </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a:t>
            </a:r>
            <a:r>
              <a:rPr lang="en-US" sz="1800" b="1" dirty="0" err="1"/>
              <a:t>Grainte</a:t>
            </a:r>
            <a:r>
              <a:rPr lang="en-US" sz="1800" b="1" dirty="0"/>
              <a:t> model </a:t>
            </a:r>
            <a:r>
              <a:rPr lang="en-US" sz="1800" dirty="0"/>
              <a:t>- </a:t>
            </a:r>
            <a:r>
              <a:rPr lang="en-IN" sz="1800" dirty="0" err="1"/>
              <a:t>ibm</a:t>
            </a:r>
            <a:r>
              <a:rPr lang="en-IN" sz="1800" dirty="0"/>
              <a:t>/granite-8b-code-instruct</a:t>
            </a:r>
            <a:r>
              <a:rPr lang="en-US" sz="1800" dirty="0" smtClean="0"/>
              <a:t> </a:t>
            </a:r>
            <a:r>
              <a:rPr lang="en-US" sz="1800" dirty="0"/>
              <a:t>– Chosen for its deep technical training, allowing it to evaluate complex software architecture and programming concepts accurately. </a:t>
            </a:r>
            <a:endParaRPr lang="en-US" sz="1800" dirty="0" smtClean="0"/>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IBM watsonx.ai:</a:t>
            </a:r>
            <a:r>
              <a:rPr lang="en-US" sz="1800" dirty="0"/>
              <a:t> Provides the secure infrastructure, API routing, and AI governance to deploy the Granite model efficiently</a:t>
            </a:r>
            <a:r>
              <a:rPr lang="en-US" sz="1800" dirty="0" smtClean="0"/>
              <a:t>.</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a:t>MERN Stack (React &amp; Node/Express):</a:t>
            </a:r>
            <a:r>
              <a:rPr lang="en-US" sz="1800" dirty="0"/>
              <a:t> Used to build a completely decoupled, professional user interface, bypassing the standard </a:t>
            </a:r>
            <a:r>
              <a:rPr lang="en-US" sz="1800" dirty="0" err="1"/>
              <a:t>Langflow</a:t>
            </a:r>
            <a:r>
              <a:rPr lang="en-US" sz="1800" dirty="0"/>
              <a:t> playground for a production-ready application feel. </a:t>
            </a:r>
          </a:p>
          <a:p>
            <a:endParaRPr lang="en-US" dirty="0"/>
          </a:p>
          <a:p>
            <a:endParaRPr lang="en-IN" dirty="0"/>
          </a:p>
        </p:txBody>
      </p:sp>
    </p:spTree>
    <p:extLst>
      <p:ext uri="{BB962C8B-B14F-4D97-AF65-F5344CB8AC3E}">
        <p14:creationId xmlns:p14="http://schemas.microsoft.com/office/powerpoint/2010/main" val="37644058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dirty="0"/>
              <a:t>Novelty and Uniqueness</a:t>
            </a:r>
            <a:endParaRPr lang="en-IN" sz="2400" b="1" dirty="0"/>
          </a:p>
        </p:txBody>
      </p:sp>
      <p:sp>
        <p:nvSpPr>
          <p:cNvPr id="3" name="TextBox 2">
            <a:extLst>
              <a:ext uri="{FF2B5EF4-FFF2-40B4-BE49-F238E27FC236}">
                <a16:creationId xmlns="" xmlns:a16="http://schemas.microsoft.com/office/drawing/2014/main" id="{ED65F54F-855A-0DB6-09A6-3212C5F7405B}"/>
              </a:ext>
            </a:extLst>
          </p:cNvPr>
          <p:cNvSpPr txBox="1"/>
          <p:nvPr/>
        </p:nvSpPr>
        <p:spPr>
          <a:xfrm>
            <a:off x="777240" y="1207008"/>
            <a:ext cx="11301984" cy="2585323"/>
          </a:xfrm>
          <a:prstGeom prst="rect">
            <a:avLst/>
          </a:prstGeom>
          <a:noFill/>
        </p:spPr>
        <p:txBody>
          <a:bodyPr wrap="square" rtlCol="0">
            <a:spAutoFit/>
          </a:bodyPr>
          <a:lstStyle/>
          <a:p>
            <a:r>
              <a:rPr lang="en-US" sz="1800" dirty="0"/>
              <a:t>The proposed Interview Agent stands out by solving complex architectural and AI behavioral challenges: </a:t>
            </a:r>
            <a:endParaRPr lang="en-US" sz="1800" dirty="0" smtClean="0"/>
          </a:p>
          <a:p>
            <a:endParaRPr lang="en-IN" sz="1800" dirty="0"/>
          </a:p>
          <a:p>
            <a:r>
              <a:rPr lang="en-US" sz="1800" b="1" dirty="0"/>
              <a:t>Strict Persona Enforcement:</a:t>
            </a:r>
            <a:r>
              <a:rPr lang="en-US" sz="1800" dirty="0"/>
              <a:t> Overcomes standard LLM safety guardrails (which normally refuse one-word prompts like "start") through advanced Prompt Engineering, forcing the model to stay in character. </a:t>
            </a:r>
            <a:endParaRPr lang="en-US" sz="1800" dirty="0" smtClean="0"/>
          </a:p>
          <a:p>
            <a:r>
              <a:rPr lang="en-US" sz="1800" b="1" dirty="0"/>
              <a:t>Decoupled Custom Architecture:</a:t>
            </a:r>
            <a:r>
              <a:rPr lang="en-US" sz="1800" dirty="0"/>
              <a:t> Unlike standard </a:t>
            </a:r>
            <a:r>
              <a:rPr lang="en-US" sz="1800" dirty="0" err="1"/>
              <a:t>Langflow</a:t>
            </a:r>
            <a:r>
              <a:rPr lang="en-US" sz="1800" dirty="0"/>
              <a:t> projects, the AI reasoning is entirely isolated from the presentation layer. The MERN stack handles the UI/UX, while </a:t>
            </a:r>
            <a:r>
              <a:rPr lang="en-US" sz="1800" dirty="0" err="1"/>
              <a:t>Langflow</a:t>
            </a:r>
            <a:r>
              <a:rPr lang="en-US" sz="1800" dirty="0"/>
              <a:t> acts purely as the brain via API. </a:t>
            </a:r>
            <a:endParaRPr lang="en-US" sz="1800" dirty="0" smtClean="0"/>
          </a:p>
          <a:p>
            <a:r>
              <a:rPr lang="en-US" sz="1800" b="1" dirty="0"/>
              <a:t>Dynamic Short-Term Memory:</a:t>
            </a:r>
            <a:r>
              <a:rPr lang="en-US" sz="1800" dirty="0"/>
              <a:t> Utilizes Message History nodes to remember past candidate answers, allowing for deep-dive, multi-turn technical follow-up questions rather than surface-level trivia. </a:t>
            </a:r>
            <a:endParaRPr lang="en-IN" dirty="0"/>
          </a:p>
        </p:txBody>
      </p:sp>
    </p:spTree>
    <p:extLst>
      <p:ext uri="{BB962C8B-B14F-4D97-AF65-F5344CB8AC3E}">
        <p14:creationId xmlns:p14="http://schemas.microsoft.com/office/powerpoint/2010/main" val="91796410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 xmlns:a16="http://schemas.microsoft.com/office/drawing/2014/main" id="{55016524-E738-3D8C-3BB2-B0BE7C665318}"/>
            </a:ext>
          </a:extLst>
        </p:cNvPr>
        <p:cNvGrpSpPr/>
        <p:nvPr/>
      </p:nvGrpSpPr>
      <p:grpSpPr>
        <a:xfrm>
          <a:off x="0" y="0"/>
          <a:ext cx="0" cy="0"/>
          <a:chOff x="0" y="0"/>
          <a:chExt cx="0" cy="0"/>
        </a:xfrm>
      </p:grpSpPr>
      <p:sp>
        <p:nvSpPr>
          <p:cNvPr id="278" name="Google Shape;278;p18">
            <a:extLst>
              <a:ext uri="{FF2B5EF4-FFF2-40B4-BE49-F238E27FC236}">
                <a16:creationId xmlns="" xmlns:a16="http://schemas.microsoft.com/office/drawing/2014/main" id="{D62F03A8-A8A8-CB93-006E-7173DC866F6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Git Hub Link</a:t>
            </a:r>
            <a:endParaRPr sz="2400" b="1" dirty="0">
              <a:sym typeface="Times New Roman"/>
            </a:endParaRPr>
          </a:p>
        </p:txBody>
      </p:sp>
      <p:sp>
        <p:nvSpPr>
          <p:cNvPr id="279" name="Google Shape;279;p18">
            <a:extLst>
              <a:ext uri="{FF2B5EF4-FFF2-40B4-BE49-F238E27FC236}">
                <a16:creationId xmlns="" xmlns:a16="http://schemas.microsoft.com/office/drawing/2014/main" id="{15507A2F-9304-7475-5C74-2BAA93879CFE}"/>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r>
              <a:rPr lang="en-US" sz="1850" dirty="0">
                <a:solidFill>
                  <a:srgbClr val="2B3541"/>
                </a:solidFill>
                <a:latin typeface="Times New Roman"/>
                <a:ea typeface="Times New Roman"/>
                <a:cs typeface="Times New Roman"/>
                <a:sym typeface="Times New Roman"/>
              </a:rPr>
              <a:t>https://github.com/neeraj-k-r/Agentic-AI-Interview-Trainer</a:t>
            </a: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 xmlns:a16="http://schemas.microsoft.com/office/drawing/2014/main" id="{A4423EF4-BB52-2693-03DD-9F7D92D05218}"/>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 xmlns:a16="http://schemas.microsoft.com/office/drawing/2014/main" id="{FF042814-8077-DBD5-E8B6-E0D870CADB86}"/>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 xmlns:a16="http://schemas.microsoft.com/office/drawing/2014/main" id="{6A2761AF-8A54-98F2-52C2-794D9BA61C92}"/>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154848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Future Scope </a:t>
            </a:r>
            <a:endParaRPr sz="2400" b="1" dirty="0">
              <a:sym typeface="Times New Roman"/>
            </a:endParaRPr>
          </a:p>
        </p:txBody>
      </p:sp>
      <p:sp>
        <p:nvSpPr>
          <p:cNvPr id="279" name="Google Shape;279;p18">
            <a:extLst>
              <a:ext uri="{FF2B5EF4-FFF2-40B4-BE49-F238E27FC236}">
                <a16:creationId xmlns="" xmlns:a16="http://schemas.microsoft.com/office/drawing/2014/main" id="{EAFA16CB-0A72-5AC5-69A0-ABF4A752B43F}"/>
              </a:ext>
            </a:extLst>
          </p:cNvPr>
          <p:cNvSpPr/>
          <p:nvPr/>
        </p:nvSpPr>
        <p:spPr>
          <a:xfrm>
            <a:off x="1218724" y="1221715"/>
            <a:ext cx="9214580" cy="4277001"/>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r>
              <a:rPr lang="en-IN" sz="2000" b="1" dirty="0" smtClean="0"/>
              <a:t>1.Resume </a:t>
            </a:r>
            <a:r>
              <a:rPr lang="en-IN" sz="2000" b="1" dirty="0"/>
              <a:t>Parsing via RAG:</a:t>
            </a:r>
            <a:r>
              <a:rPr lang="en-IN" sz="2000" dirty="0"/>
              <a:t> </a:t>
            </a:r>
            <a:r>
              <a:rPr lang="en-US" sz="2000" dirty="0" smtClean="0"/>
              <a:t>Integrating </a:t>
            </a:r>
            <a:r>
              <a:rPr lang="en-US" sz="2000" dirty="0"/>
              <a:t>a Retrieval-Augmented Generation (RAG) vector database to allow users to upload their PDF resumes. The AI could then extract past projects and ask highly specific, personalized questions based on the candidate's actual work history</a:t>
            </a:r>
            <a:r>
              <a:rPr lang="en-US" sz="2000" dirty="0" smtClean="0"/>
              <a:t>.</a:t>
            </a:r>
          </a:p>
          <a:p>
            <a:pPr lvl="0">
              <a:lnSpc>
                <a:spcPct val="162162"/>
              </a:lnSpc>
              <a:buClr>
                <a:srgbClr val="2B3541"/>
              </a:buClr>
              <a:buSzPts val="1850"/>
            </a:pPr>
            <a:r>
              <a:rPr lang="en-IN" sz="2000" dirty="0" smtClean="0"/>
              <a:t>2.</a:t>
            </a:r>
            <a:r>
              <a:rPr lang="en-IN" sz="2000" b="1" dirty="0" smtClean="0"/>
              <a:t>Voice-to-Text Integration:</a:t>
            </a:r>
            <a:r>
              <a:rPr lang="en-US" sz="2000" dirty="0"/>
              <a:t>Implementing the Web Speech API in the React frontend to allow candidates to speak their answers out loud, simulating the pressure and reality of a verbal technical interview</a:t>
            </a:r>
            <a:r>
              <a:rPr lang="en-US" sz="2000" dirty="0" smtClean="0"/>
              <a:t>.</a:t>
            </a:r>
          </a:p>
          <a:p>
            <a:pPr lvl="0">
              <a:lnSpc>
                <a:spcPct val="162162"/>
              </a:lnSpc>
              <a:buClr>
                <a:srgbClr val="2B3541"/>
              </a:buClr>
              <a:buSzPts val="1850"/>
            </a:pPr>
            <a:r>
              <a:rPr lang="en-US" sz="2000" dirty="0" smtClean="0"/>
              <a:t>3.</a:t>
            </a:r>
            <a:r>
              <a:rPr lang="en-IN" sz="2000" dirty="0"/>
              <a:t> </a:t>
            </a:r>
            <a:r>
              <a:rPr lang="en-IN" sz="2000" b="1" dirty="0"/>
              <a:t>Post-Interview Evaluation </a:t>
            </a:r>
            <a:r>
              <a:rPr lang="en-IN" sz="2000" b="1" dirty="0" smtClean="0"/>
              <a:t>Report:</a:t>
            </a:r>
            <a:r>
              <a:rPr lang="en-US" sz="2000" dirty="0"/>
              <a:t>Adding a secondary AI agent that reviews the entire Message History transcript once the interview concludes, generating a comprehensive scorecard highlighting strengths and areas for improvement.</a:t>
            </a:r>
            <a:endParaRPr lang="en-US" sz="2000" dirty="0" smtClean="0"/>
          </a:p>
          <a:p>
            <a:pPr lvl="0">
              <a:lnSpc>
                <a:spcPct val="162162"/>
              </a:lnSpc>
              <a:buClr>
                <a:srgbClr val="2B3541"/>
              </a:buClr>
              <a:buSzPts val="1850"/>
            </a:pP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 xmlns:a16="http://schemas.microsoft.com/office/drawing/2014/main" id="{B888011B-E4AC-77DB-4A60-BE2C891C49F5}"/>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1358</TotalTime>
  <Words>843</Words>
  <Application>Microsoft Office PowerPoint</Application>
  <PresentationFormat>Widescreen</PresentationFormat>
  <Paragraphs>93</Paragraphs>
  <Slides>13</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user</cp:lastModifiedBy>
  <cp:revision>26</cp:revision>
  <dcterms:created xsi:type="dcterms:W3CDTF">2025-07-08T05:06:56Z</dcterms:created>
  <dcterms:modified xsi:type="dcterms:W3CDTF">2026-06-04T20:20:08Z</dcterms:modified>
</cp:coreProperties>
</file>